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media/image11.jpg" ContentType="image/jpeg"/>
  <Override PartName="/ppt/notesSlides/notesSlide3.xml" ContentType="application/vnd.openxmlformats-officedocument.presentationml.notesSlide+xml"/>
  <Override PartName="/ppt/media/image13.jpg" ContentType="image/jpeg"/>
  <Override PartName="/ppt/media/image15.jpg" ContentType="image/jpeg"/>
  <Override PartName="/ppt/media/image16.jpg" ContentType="image/jpeg"/>
  <Override PartName="/ppt/media/image17.jpg" ContentType="image/jpeg"/>
  <Override PartName="/ppt/media/image18.jpg" ContentType="image/jpeg"/>
  <Override PartName="/ppt/media/image19.jpg" ContentType="image/jpeg"/>
  <Override PartName="/ppt/media/image21.jpg" ContentType="image/jpeg"/>
  <Override PartName="/ppt/media/image22.jp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3"/>
  </p:notesMasterIdLst>
  <p:sldIdLst>
    <p:sldId id="256" r:id="rId2"/>
    <p:sldId id="257" r:id="rId3"/>
    <p:sldId id="258" r:id="rId4"/>
    <p:sldId id="259" r:id="rId5"/>
    <p:sldId id="261" r:id="rId6"/>
    <p:sldId id="262" r:id="rId7"/>
    <p:sldId id="263" r:id="rId8"/>
    <p:sldId id="281" r:id="rId9"/>
    <p:sldId id="290" r:id="rId10"/>
    <p:sldId id="283" r:id="rId11"/>
    <p:sldId id="284" r:id="rId12"/>
    <p:sldId id="285" r:id="rId13"/>
    <p:sldId id="286" r:id="rId14"/>
    <p:sldId id="287" r:id="rId15"/>
    <p:sldId id="288" r:id="rId16"/>
    <p:sldId id="289" r:id="rId17"/>
    <p:sldId id="294" r:id="rId18"/>
    <p:sldId id="291" r:id="rId19"/>
    <p:sldId id="292" r:id="rId20"/>
    <p:sldId id="293" r:id="rId21"/>
    <p:sldId id="280" r:id="rId22"/>
    <p:sldId id="310" r:id="rId23"/>
    <p:sldId id="311" r:id="rId24"/>
    <p:sldId id="312" r:id="rId25"/>
    <p:sldId id="313" r:id="rId26"/>
    <p:sldId id="304" r:id="rId27"/>
    <p:sldId id="305" r:id="rId28"/>
    <p:sldId id="306" r:id="rId29"/>
    <p:sldId id="314" r:id="rId30"/>
    <p:sldId id="308" r:id="rId31"/>
    <p:sldId id="264" r:id="rId32"/>
  </p:sldIdLst>
  <p:sldSz cx="12192000" cy="6858000"/>
  <p:notesSz cx="12192000" cy="6858000"/>
  <p:defaultTextStyle>
    <a:defPPr>
      <a:defRPr kern="0"/>
    </a:defPPr>
  </p:defaultTextStyle>
  <p:extLst>
    <p:ext uri="{521415D9-36F7-43E2-AB2F-B90AF26B5E84}">
      <p14:sectionLst xmlns:p14="http://schemas.microsoft.com/office/powerpoint/2010/main">
        <p14:section name="Default Section" id="{C37910FA-1D4C-4117-877E-DBF86A174F07}">
          <p14:sldIdLst>
            <p14:sldId id="256"/>
            <p14:sldId id="257"/>
            <p14:sldId id="258"/>
            <p14:sldId id="259"/>
          </p14:sldIdLst>
        </p14:section>
        <p14:section name="Untitled Section" id="{1BF89C98-6F00-4E8B-BA88-DD7EB30BE1C8}">
          <p14:sldIdLst>
            <p14:sldId id="261"/>
            <p14:sldId id="262"/>
            <p14:sldId id="263"/>
            <p14:sldId id="281"/>
            <p14:sldId id="290"/>
            <p14:sldId id="283"/>
            <p14:sldId id="284"/>
            <p14:sldId id="285"/>
            <p14:sldId id="286"/>
            <p14:sldId id="287"/>
            <p14:sldId id="288"/>
            <p14:sldId id="289"/>
            <p14:sldId id="294"/>
            <p14:sldId id="291"/>
            <p14:sldId id="292"/>
            <p14:sldId id="293"/>
            <p14:sldId id="280"/>
            <p14:sldId id="310"/>
            <p14:sldId id="311"/>
            <p14:sldId id="312"/>
            <p14:sldId id="313"/>
            <p14:sldId id="304"/>
            <p14:sldId id="305"/>
            <p14:sldId id="306"/>
            <p14:sldId id="314"/>
            <p14:sldId id="308"/>
            <p14:sldId id="264"/>
          </p14:sldIdLst>
        </p14:section>
      </p14:sectionLst>
    </p:ex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765" autoAdjust="0"/>
    <p:restoredTop sz="75904" autoAdjust="0"/>
  </p:normalViewPr>
  <p:slideViewPr>
    <p:cSldViewPr>
      <p:cViewPr varScale="1">
        <p:scale>
          <a:sx n="51" d="100"/>
          <a:sy n="51" d="100"/>
        </p:scale>
        <p:origin x="884" y="2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5FF86176-B47B-4044-9390-114A29F4AFB0}" type="datetimeFigureOut">
              <a:rPr lang="en-US" smtClean="0"/>
              <a:t>7/3/2025</a:t>
            </a:fld>
            <a:endParaRPr lang="en-US"/>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828BF8F0-55B1-452F-B6C6-11D30CCDFDAE}" type="slidenum">
              <a:rPr lang="en-US" smtClean="0"/>
              <a:t>‹#›</a:t>
            </a:fld>
            <a:endParaRPr lang="en-US"/>
          </a:p>
        </p:txBody>
      </p:sp>
    </p:spTree>
    <p:extLst>
      <p:ext uri="{BB962C8B-B14F-4D97-AF65-F5344CB8AC3E}">
        <p14:creationId xmlns:p14="http://schemas.microsoft.com/office/powerpoint/2010/main" val="10838217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28BF8F0-55B1-452F-B6C6-11D30CCDFDAE}" type="slidenum">
              <a:rPr lang="en-US" smtClean="0"/>
              <a:t>2</a:t>
            </a:fld>
            <a:endParaRPr lang="en-US"/>
          </a:p>
        </p:txBody>
      </p:sp>
    </p:spTree>
    <p:extLst>
      <p:ext uri="{BB962C8B-B14F-4D97-AF65-F5344CB8AC3E}">
        <p14:creationId xmlns:p14="http://schemas.microsoft.com/office/powerpoint/2010/main" val="816242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28BF8F0-55B1-452F-B6C6-11D30CCDFDAE}" type="slidenum">
              <a:rPr lang="en-US" smtClean="0"/>
              <a:t>8</a:t>
            </a:fld>
            <a:endParaRPr lang="en-US"/>
          </a:p>
        </p:txBody>
      </p:sp>
    </p:spTree>
    <p:extLst>
      <p:ext uri="{BB962C8B-B14F-4D97-AF65-F5344CB8AC3E}">
        <p14:creationId xmlns:p14="http://schemas.microsoft.com/office/powerpoint/2010/main" val="39017113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28BF8F0-55B1-452F-B6C6-11D30CCDFDAE}" type="slidenum">
              <a:rPr lang="en-US" smtClean="0"/>
              <a:t>16</a:t>
            </a:fld>
            <a:endParaRPr lang="en-US"/>
          </a:p>
        </p:txBody>
      </p:sp>
    </p:spTree>
    <p:extLst>
      <p:ext uri="{BB962C8B-B14F-4D97-AF65-F5344CB8AC3E}">
        <p14:creationId xmlns:p14="http://schemas.microsoft.com/office/powerpoint/2010/main" val="38511706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5000" b="0" i="0">
                <a:solidFill>
                  <a:srgbClr val="04607A"/>
                </a:solidFill>
                <a:latin typeface="Calibri"/>
                <a:cs typeface="Calibri"/>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600" b="0" i="0">
                <a:solidFill>
                  <a:schemeClr val="tx1"/>
                </a:solidFill>
                <a:latin typeface="Constantia"/>
                <a:cs typeface="Constanti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7/3/2025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000" b="0" i="0">
                <a:solidFill>
                  <a:srgbClr val="04607A"/>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2600" b="0" i="0">
                <a:solidFill>
                  <a:schemeClr val="tx1"/>
                </a:solidFill>
                <a:latin typeface="Constantia"/>
                <a:cs typeface="Constanti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7/3/2025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000" b="0" i="0">
                <a:solidFill>
                  <a:srgbClr val="04607A"/>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7/3/2025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000" b="0" i="0">
                <a:solidFill>
                  <a:srgbClr val="04607A"/>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7/3/2025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7/3/2025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11" Type="http://schemas.openxmlformats.org/officeDocument/2006/relationships/image" Target="../media/image5.png"/><Relationship Id="rId5" Type="http://schemas.openxmlformats.org/officeDocument/2006/relationships/slideLayout" Target="../slideLayouts/slideLayout5.xml"/><Relationship Id="rId10" Type="http://schemas.openxmlformats.org/officeDocument/2006/relationships/image" Target="../media/image4.png"/><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12192000" cy="6858000"/>
          </a:xfrm>
          <a:prstGeom prst="rect">
            <a:avLst/>
          </a:prstGeom>
        </p:spPr>
      </p:pic>
      <p:pic>
        <p:nvPicPr>
          <p:cNvPr id="17" name="bg object 17"/>
          <p:cNvPicPr/>
          <p:nvPr/>
        </p:nvPicPr>
        <p:blipFill>
          <a:blip r:embed="rId8" cstate="print"/>
          <a:stretch>
            <a:fillRect/>
          </a:stretch>
        </p:blipFill>
        <p:spPr>
          <a:xfrm>
            <a:off x="0" y="1096"/>
            <a:ext cx="12192000" cy="1032509"/>
          </a:xfrm>
          <a:prstGeom prst="rect">
            <a:avLst/>
          </a:prstGeom>
        </p:spPr>
      </p:pic>
      <p:pic>
        <p:nvPicPr>
          <p:cNvPr id="18" name="bg object 18"/>
          <p:cNvPicPr/>
          <p:nvPr/>
        </p:nvPicPr>
        <p:blipFill>
          <a:blip r:embed="rId9" cstate="print"/>
          <a:stretch>
            <a:fillRect/>
          </a:stretch>
        </p:blipFill>
        <p:spPr>
          <a:xfrm>
            <a:off x="5872117" y="0"/>
            <a:ext cx="6319882" cy="597625"/>
          </a:xfrm>
          <a:prstGeom prst="rect">
            <a:avLst/>
          </a:prstGeom>
        </p:spPr>
      </p:pic>
      <p:pic>
        <p:nvPicPr>
          <p:cNvPr id="19" name="bg object 19"/>
          <p:cNvPicPr/>
          <p:nvPr/>
        </p:nvPicPr>
        <p:blipFill>
          <a:blip r:embed="rId10" cstate="print"/>
          <a:stretch>
            <a:fillRect/>
          </a:stretch>
        </p:blipFill>
        <p:spPr>
          <a:xfrm>
            <a:off x="0" y="0"/>
            <a:ext cx="11849003" cy="1092452"/>
          </a:xfrm>
          <a:prstGeom prst="rect">
            <a:avLst/>
          </a:prstGeom>
        </p:spPr>
      </p:pic>
      <p:pic>
        <p:nvPicPr>
          <p:cNvPr id="20" name="bg object 20"/>
          <p:cNvPicPr/>
          <p:nvPr/>
        </p:nvPicPr>
        <p:blipFill>
          <a:blip r:embed="rId11" cstate="print"/>
          <a:stretch>
            <a:fillRect/>
          </a:stretch>
        </p:blipFill>
        <p:spPr>
          <a:xfrm>
            <a:off x="0" y="0"/>
            <a:ext cx="12142099" cy="1026837"/>
          </a:xfrm>
          <a:prstGeom prst="rect">
            <a:avLst/>
          </a:prstGeom>
        </p:spPr>
      </p:pic>
      <p:sp>
        <p:nvSpPr>
          <p:cNvPr id="2" name="Holder 2"/>
          <p:cNvSpPr>
            <a:spLocks noGrp="1"/>
          </p:cNvSpPr>
          <p:nvPr>
            <p:ph type="title"/>
          </p:nvPr>
        </p:nvSpPr>
        <p:spPr>
          <a:xfrm>
            <a:off x="597534" y="1026096"/>
            <a:ext cx="10996930" cy="821181"/>
          </a:xfrm>
          <a:prstGeom prst="rect">
            <a:avLst/>
          </a:prstGeom>
        </p:spPr>
        <p:txBody>
          <a:bodyPr wrap="square" lIns="0" tIns="0" rIns="0" bIns="0">
            <a:spAutoFit/>
          </a:bodyPr>
          <a:lstStyle>
            <a:lvl1pPr>
              <a:defRPr sz="5000" b="0" i="0">
                <a:solidFill>
                  <a:srgbClr val="04607A"/>
                </a:solidFill>
                <a:latin typeface="Calibri"/>
                <a:cs typeface="Calibri"/>
              </a:defRPr>
            </a:lvl1pPr>
          </a:lstStyle>
          <a:p>
            <a:endParaRPr/>
          </a:p>
        </p:txBody>
      </p:sp>
      <p:sp>
        <p:nvSpPr>
          <p:cNvPr id="3" name="Holder 3"/>
          <p:cNvSpPr>
            <a:spLocks noGrp="1"/>
          </p:cNvSpPr>
          <p:nvPr>
            <p:ph type="body" idx="1"/>
          </p:nvPr>
        </p:nvSpPr>
        <p:spPr>
          <a:xfrm>
            <a:off x="688975" y="1866328"/>
            <a:ext cx="7622540" cy="3841115"/>
          </a:xfrm>
          <a:prstGeom prst="rect">
            <a:avLst/>
          </a:prstGeom>
        </p:spPr>
        <p:txBody>
          <a:bodyPr wrap="square" lIns="0" tIns="0" rIns="0" bIns="0">
            <a:spAutoFit/>
          </a:bodyPr>
          <a:lstStyle>
            <a:lvl1pPr>
              <a:defRPr sz="2600" b="0" i="0">
                <a:solidFill>
                  <a:schemeClr val="tx1"/>
                </a:solidFill>
                <a:latin typeface="Constantia"/>
                <a:cs typeface="Constantia"/>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7/3/2025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5.xml"/><Relationship Id="rId6" Type="http://schemas.openxmlformats.org/officeDocument/2006/relationships/image" Target="../media/image10.jpg"/><Relationship Id="rId5" Type="http://schemas.openxmlformats.org/officeDocument/2006/relationships/image" Target="../media/image9.png"/><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761361" y="765124"/>
            <a:ext cx="8868410" cy="1595309"/>
          </a:xfrm>
          <a:prstGeom prst="rect">
            <a:avLst/>
          </a:prstGeom>
        </p:spPr>
        <p:txBody>
          <a:bodyPr vert="horz" wrap="square" lIns="0" tIns="12700" rIns="0" bIns="0" rtlCol="0">
            <a:spAutoFit/>
          </a:bodyPr>
          <a:lstStyle/>
          <a:p>
            <a:pPr marL="12700" algn="ctr">
              <a:lnSpc>
                <a:spcPct val="100000"/>
              </a:lnSpc>
              <a:spcBef>
                <a:spcPts val="100"/>
              </a:spcBef>
            </a:pPr>
            <a:r>
              <a:rPr lang="en-US" sz="2400" b="1" dirty="0">
                <a:latin typeface="Times New Roman" panose="02020603050405020304" pitchFamily="18" charset="0"/>
                <a:cs typeface="Times New Roman" panose="02020603050405020304" pitchFamily="18" charset="0"/>
              </a:rPr>
              <a:t>Classification of Sleep Disorder applying Machine Learning algorithms and using supervised learning algorithms</a:t>
            </a:r>
          </a:p>
          <a:p>
            <a:pPr marL="12700" algn="ctr">
              <a:lnSpc>
                <a:spcPct val="100000"/>
              </a:lnSpc>
              <a:spcBef>
                <a:spcPts val="100"/>
              </a:spcBef>
            </a:pPr>
            <a:endParaRPr sz="1800" b="1" dirty="0">
              <a:latin typeface="Times New Roman" panose="02020603050405020304" pitchFamily="18" charset="0"/>
              <a:cs typeface="Times New Roman" panose="02020603050405020304" pitchFamily="18" charset="0"/>
            </a:endParaRPr>
          </a:p>
          <a:p>
            <a:pPr marL="3790950">
              <a:lnSpc>
                <a:spcPct val="100000"/>
              </a:lnSpc>
            </a:pPr>
            <a:r>
              <a:rPr sz="1800" b="1" dirty="0">
                <a:solidFill>
                  <a:srgbClr val="009DD9"/>
                </a:solidFill>
                <a:latin typeface="Times New Roman"/>
                <a:cs typeface="Times New Roman"/>
              </a:rPr>
              <a:t>Presented</a:t>
            </a:r>
            <a:r>
              <a:rPr sz="1800" b="1" spc="-65" dirty="0">
                <a:solidFill>
                  <a:srgbClr val="009DD9"/>
                </a:solidFill>
                <a:latin typeface="Times New Roman"/>
                <a:cs typeface="Times New Roman"/>
              </a:rPr>
              <a:t> </a:t>
            </a:r>
            <a:r>
              <a:rPr sz="1800" b="1" spc="-25" dirty="0">
                <a:solidFill>
                  <a:srgbClr val="009DD9"/>
                </a:solidFill>
                <a:latin typeface="Times New Roman"/>
                <a:cs typeface="Times New Roman"/>
              </a:rPr>
              <a:t>By</a:t>
            </a:r>
            <a:endParaRPr sz="1800" dirty="0">
              <a:latin typeface="Times New Roman"/>
              <a:cs typeface="Times New Roman"/>
            </a:endParaRPr>
          </a:p>
          <a:p>
            <a:pPr marL="2797175">
              <a:lnSpc>
                <a:spcPct val="100000"/>
              </a:lnSpc>
              <a:spcBef>
                <a:spcPts val="20"/>
              </a:spcBef>
            </a:pPr>
            <a:r>
              <a:rPr lang="en-US" b="1" spc="60" dirty="0" err="1">
                <a:latin typeface="Times New Roman"/>
                <a:cs typeface="Times New Roman"/>
              </a:rPr>
              <a:t>Sd.Shameena</a:t>
            </a:r>
            <a:r>
              <a:rPr sz="1800" b="1" spc="60" dirty="0">
                <a:latin typeface="Times New Roman"/>
                <a:cs typeface="Times New Roman"/>
              </a:rPr>
              <a:t> </a:t>
            </a:r>
            <a:r>
              <a:rPr sz="1800" b="1" spc="-30" dirty="0">
                <a:latin typeface="Times New Roman"/>
                <a:cs typeface="Times New Roman"/>
              </a:rPr>
              <a:t>(4511-</a:t>
            </a:r>
            <a:r>
              <a:rPr lang="en-US" b="1" spc="-10" dirty="0">
                <a:latin typeface="Times New Roman"/>
                <a:cs typeface="Times New Roman"/>
              </a:rPr>
              <a:t>23</a:t>
            </a:r>
            <a:r>
              <a:rPr sz="1800" b="1" spc="-10" dirty="0">
                <a:latin typeface="Times New Roman"/>
                <a:cs typeface="Times New Roman"/>
              </a:rPr>
              <a:t>-862-</a:t>
            </a:r>
            <a:r>
              <a:rPr sz="1800" b="1" spc="-20" dirty="0">
                <a:latin typeface="Times New Roman"/>
                <a:cs typeface="Times New Roman"/>
              </a:rPr>
              <a:t>0</a:t>
            </a:r>
            <a:r>
              <a:rPr lang="en-US" sz="1800" b="1" spc="-20" dirty="0">
                <a:latin typeface="Times New Roman"/>
                <a:cs typeface="Times New Roman"/>
              </a:rPr>
              <a:t>35</a:t>
            </a:r>
            <a:r>
              <a:rPr sz="1800" b="1" spc="-20" dirty="0">
                <a:latin typeface="Times New Roman"/>
                <a:cs typeface="Times New Roman"/>
              </a:rPr>
              <a:t>)</a:t>
            </a:r>
            <a:endParaRPr sz="1800" dirty="0">
              <a:latin typeface="Times New Roman"/>
              <a:cs typeface="Times New Roman"/>
            </a:endParaRPr>
          </a:p>
        </p:txBody>
      </p:sp>
      <p:sp>
        <p:nvSpPr>
          <p:cNvPr id="3" name="object 3"/>
          <p:cNvSpPr txBox="1"/>
          <p:nvPr/>
        </p:nvSpPr>
        <p:spPr>
          <a:xfrm>
            <a:off x="3734946" y="3701149"/>
            <a:ext cx="4662805" cy="1105431"/>
          </a:xfrm>
          <a:prstGeom prst="rect">
            <a:avLst/>
          </a:prstGeom>
        </p:spPr>
        <p:txBody>
          <a:bodyPr vert="horz" wrap="square" lIns="0" tIns="12700" rIns="0" bIns="0" rtlCol="0">
            <a:spAutoFit/>
          </a:bodyPr>
          <a:lstStyle/>
          <a:p>
            <a:pPr marL="5080" algn="ctr">
              <a:lnSpc>
                <a:spcPts val="2130"/>
              </a:lnSpc>
              <a:spcBef>
                <a:spcPts val="100"/>
              </a:spcBef>
            </a:pPr>
            <a:r>
              <a:rPr sz="1800" b="1" dirty="0">
                <a:solidFill>
                  <a:srgbClr val="009DD9"/>
                </a:solidFill>
                <a:latin typeface="Times New Roman"/>
                <a:cs typeface="Times New Roman"/>
              </a:rPr>
              <a:t>Under</a:t>
            </a:r>
            <a:r>
              <a:rPr sz="1800" b="1" spc="-80" dirty="0">
                <a:solidFill>
                  <a:srgbClr val="009DD9"/>
                </a:solidFill>
                <a:latin typeface="Times New Roman"/>
                <a:cs typeface="Times New Roman"/>
              </a:rPr>
              <a:t> </a:t>
            </a:r>
            <a:r>
              <a:rPr sz="1800" b="1" dirty="0">
                <a:solidFill>
                  <a:srgbClr val="009DD9"/>
                </a:solidFill>
                <a:latin typeface="Times New Roman"/>
                <a:cs typeface="Times New Roman"/>
              </a:rPr>
              <a:t>the Guidance </a:t>
            </a:r>
            <a:r>
              <a:rPr sz="1800" b="1" spc="-25" dirty="0">
                <a:solidFill>
                  <a:srgbClr val="009DD9"/>
                </a:solidFill>
                <a:latin typeface="Times New Roman"/>
                <a:cs typeface="Times New Roman"/>
              </a:rPr>
              <a:t>of</a:t>
            </a:r>
            <a:endParaRPr sz="1800" dirty="0">
              <a:latin typeface="Times New Roman"/>
              <a:cs typeface="Times New Roman"/>
            </a:endParaRPr>
          </a:p>
          <a:p>
            <a:pPr algn="ctr">
              <a:lnSpc>
                <a:spcPts val="2130"/>
              </a:lnSpc>
            </a:pPr>
            <a:r>
              <a:rPr lang="en-US" sz="1800" b="1" dirty="0">
                <a:latin typeface="Times New Roman"/>
                <a:cs typeface="Times New Roman"/>
              </a:rPr>
              <a:t>Dr. D. Sandhya Rani</a:t>
            </a:r>
            <a:endParaRPr sz="1800" dirty="0">
              <a:latin typeface="Times New Roman"/>
              <a:cs typeface="Times New Roman"/>
            </a:endParaRPr>
          </a:p>
          <a:p>
            <a:pPr marL="105410" algn="ctr">
              <a:lnSpc>
                <a:spcPct val="100000"/>
              </a:lnSpc>
              <a:spcBef>
                <a:spcPts val="20"/>
              </a:spcBef>
            </a:pPr>
            <a:r>
              <a:rPr sz="1800" dirty="0">
                <a:solidFill>
                  <a:srgbClr val="115863"/>
                </a:solidFill>
                <a:latin typeface="Times New Roman"/>
                <a:cs typeface="Times New Roman"/>
              </a:rPr>
              <a:t>Assistant</a:t>
            </a:r>
            <a:r>
              <a:rPr sz="1800" spc="-40" dirty="0">
                <a:solidFill>
                  <a:srgbClr val="115863"/>
                </a:solidFill>
                <a:latin typeface="Times New Roman"/>
                <a:cs typeface="Times New Roman"/>
              </a:rPr>
              <a:t> </a:t>
            </a:r>
            <a:r>
              <a:rPr sz="1800" spc="-10" dirty="0">
                <a:solidFill>
                  <a:srgbClr val="115863"/>
                </a:solidFill>
                <a:latin typeface="Times New Roman"/>
                <a:cs typeface="Times New Roman"/>
              </a:rPr>
              <a:t>Professor</a:t>
            </a:r>
            <a:endParaRPr sz="1800" dirty="0">
              <a:latin typeface="Times New Roman"/>
              <a:cs typeface="Times New Roman"/>
            </a:endParaRPr>
          </a:p>
          <a:p>
            <a:pPr algn="ctr">
              <a:lnSpc>
                <a:spcPct val="100000"/>
              </a:lnSpc>
              <a:spcBef>
                <a:spcPts val="15"/>
              </a:spcBef>
            </a:pPr>
            <a:r>
              <a:rPr sz="1800" dirty="0">
                <a:solidFill>
                  <a:srgbClr val="252525"/>
                </a:solidFill>
                <a:latin typeface="Times New Roman"/>
                <a:cs typeface="Times New Roman"/>
              </a:rPr>
              <a:t>Department</a:t>
            </a:r>
            <a:r>
              <a:rPr sz="1800" spc="-65" dirty="0">
                <a:solidFill>
                  <a:srgbClr val="252525"/>
                </a:solidFill>
                <a:latin typeface="Times New Roman"/>
                <a:cs typeface="Times New Roman"/>
              </a:rPr>
              <a:t> </a:t>
            </a:r>
            <a:r>
              <a:rPr sz="1800" dirty="0">
                <a:solidFill>
                  <a:srgbClr val="252525"/>
                </a:solidFill>
                <a:latin typeface="Times New Roman"/>
                <a:cs typeface="Times New Roman"/>
              </a:rPr>
              <a:t>of</a:t>
            </a:r>
            <a:r>
              <a:rPr sz="1800" spc="5" dirty="0">
                <a:solidFill>
                  <a:srgbClr val="252525"/>
                </a:solidFill>
                <a:latin typeface="Times New Roman"/>
                <a:cs typeface="Times New Roman"/>
              </a:rPr>
              <a:t> </a:t>
            </a:r>
            <a:r>
              <a:rPr sz="1800" spc="-10" dirty="0">
                <a:solidFill>
                  <a:srgbClr val="252525"/>
                </a:solidFill>
                <a:latin typeface="Times New Roman"/>
                <a:cs typeface="Times New Roman"/>
              </a:rPr>
              <a:t>Computer-</a:t>
            </a:r>
            <a:r>
              <a:rPr sz="1800" dirty="0">
                <a:solidFill>
                  <a:srgbClr val="252525"/>
                </a:solidFill>
                <a:latin typeface="Times New Roman"/>
                <a:cs typeface="Times New Roman"/>
              </a:rPr>
              <a:t>Science</a:t>
            </a:r>
            <a:r>
              <a:rPr sz="1800" spc="15" dirty="0">
                <a:solidFill>
                  <a:srgbClr val="252525"/>
                </a:solidFill>
                <a:latin typeface="Times New Roman"/>
                <a:cs typeface="Times New Roman"/>
              </a:rPr>
              <a:t> </a:t>
            </a:r>
            <a:r>
              <a:rPr sz="1800" dirty="0">
                <a:solidFill>
                  <a:srgbClr val="252525"/>
                </a:solidFill>
                <a:latin typeface="Times New Roman"/>
                <a:cs typeface="Times New Roman"/>
              </a:rPr>
              <a:t>and </a:t>
            </a:r>
            <a:r>
              <a:rPr sz="1800" spc="-10" dirty="0">
                <a:solidFill>
                  <a:srgbClr val="252525"/>
                </a:solidFill>
                <a:latin typeface="Times New Roman"/>
                <a:cs typeface="Times New Roman"/>
              </a:rPr>
              <a:t>Informatics,</a:t>
            </a:r>
            <a:endParaRPr sz="1800" dirty="0">
              <a:latin typeface="Times New Roman"/>
              <a:cs typeface="Times New Roman"/>
            </a:endParaRPr>
          </a:p>
        </p:txBody>
      </p:sp>
      <p:pic>
        <p:nvPicPr>
          <p:cNvPr id="4" name="object 4"/>
          <p:cNvPicPr/>
          <p:nvPr/>
        </p:nvPicPr>
        <p:blipFill>
          <a:blip r:embed="rId2" cstate="print"/>
          <a:stretch>
            <a:fillRect/>
          </a:stretch>
        </p:blipFill>
        <p:spPr>
          <a:xfrm>
            <a:off x="2836609" y="5297868"/>
            <a:ext cx="6796024" cy="168020"/>
          </a:xfrm>
          <a:prstGeom prst="rect">
            <a:avLst/>
          </a:prstGeom>
        </p:spPr>
      </p:pic>
      <p:grpSp>
        <p:nvGrpSpPr>
          <p:cNvPr id="5" name="object 5"/>
          <p:cNvGrpSpPr/>
          <p:nvPr/>
        </p:nvGrpSpPr>
        <p:grpSpPr>
          <a:xfrm>
            <a:off x="3616324" y="5658382"/>
            <a:ext cx="5158486" cy="204469"/>
            <a:chOff x="3612324" y="5077142"/>
            <a:chExt cx="5158486" cy="204469"/>
          </a:xfrm>
        </p:grpSpPr>
        <p:pic>
          <p:nvPicPr>
            <p:cNvPr id="6" name="object 6"/>
            <p:cNvPicPr/>
            <p:nvPr/>
          </p:nvPicPr>
          <p:blipFill>
            <a:blip r:embed="rId3" cstate="print"/>
            <a:stretch>
              <a:fillRect/>
            </a:stretch>
          </p:blipFill>
          <p:spPr>
            <a:xfrm>
              <a:off x="3617086" y="5082031"/>
              <a:ext cx="5148961" cy="194818"/>
            </a:xfrm>
            <a:prstGeom prst="rect">
              <a:avLst/>
            </a:prstGeom>
          </p:spPr>
        </p:pic>
        <p:pic>
          <p:nvPicPr>
            <p:cNvPr id="7" name="object 7"/>
            <p:cNvPicPr/>
            <p:nvPr/>
          </p:nvPicPr>
          <p:blipFill>
            <a:blip r:embed="rId4" cstate="print"/>
            <a:stretch>
              <a:fillRect/>
            </a:stretch>
          </p:blipFill>
          <p:spPr>
            <a:xfrm>
              <a:off x="5899086" y="5077142"/>
              <a:ext cx="2871724" cy="204469"/>
            </a:xfrm>
            <a:prstGeom prst="rect">
              <a:avLst/>
            </a:prstGeom>
          </p:spPr>
        </p:pic>
        <p:pic>
          <p:nvPicPr>
            <p:cNvPr id="8" name="object 8"/>
            <p:cNvPicPr/>
            <p:nvPr/>
          </p:nvPicPr>
          <p:blipFill>
            <a:blip r:embed="rId5" cstate="print"/>
            <a:stretch>
              <a:fillRect/>
            </a:stretch>
          </p:blipFill>
          <p:spPr>
            <a:xfrm>
              <a:off x="3612324" y="5077142"/>
              <a:ext cx="2222246" cy="168020"/>
            </a:xfrm>
            <a:prstGeom prst="rect">
              <a:avLst/>
            </a:prstGeom>
          </p:spPr>
        </p:pic>
      </p:grpSp>
      <p:pic>
        <p:nvPicPr>
          <p:cNvPr id="18" name="object 18"/>
          <p:cNvPicPr/>
          <p:nvPr/>
        </p:nvPicPr>
        <p:blipFill>
          <a:blip r:embed="rId6" cstate="print"/>
          <a:stretch>
            <a:fillRect/>
          </a:stretch>
        </p:blipFill>
        <p:spPr>
          <a:xfrm>
            <a:off x="5471035" y="2459125"/>
            <a:ext cx="1190625" cy="1185853"/>
          </a:xfrm>
          <a:prstGeom prst="rect">
            <a:avLst/>
          </a:prstGeom>
        </p:spPr>
      </p:pic>
      <p:sp>
        <p:nvSpPr>
          <p:cNvPr id="20" name="TextBox 19">
            <a:extLst>
              <a:ext uri="{FF2B5EF4-FFF2-40B4-BE49-F238E27FC236}">
                <a16:creationId xmlns:a16="http://schemas.microsoft.com/office/drawing/2014/main" id="{280423D8-4D27-35EA-6C75-CF74F9A0C4B8}"/>
              </a:ext>
            </a:extLst>
          </p:cNvPr>
          <p:cNvSpPr txBox="1"/>
          <p:nvPr/>
        </p:nvSpPr>
        <p:spPr>
          <a:xfrm>
            <a:off x="4948550" y="6024522"/>
            <a:ext cx="2646878" cy="369332"/>
          </a:xfrm>
          <a:prstGeom prst="rect">
            <a:avLst/>
          </a:prstGeom>
          <a:noFill/>
        </p:spPr>
        <p:txBody>
          <a:bodyPr wrap="none" rtlCol="0">
            <a:spAutoFit/>
          </a:bodyPr>
          <a:lstStyle/>
          <a:p>
            <a:r>
              <a:rPr lang="en-US" dirty="0">
                <a:solidFill>
                  <a:schemeClr val="tx2"/>
                </a:solidFill>
                <a:latin typeface="Arial Black" panose="020B0A04020102020204" pitchFamily="34" charset="0"/>
              </a:rPr>
              <a:t>NALGONDA-508254</a:t>
            </a:r>
            <a:endParaRPr lang="en-IN" dirty="0">
              <a:solidFill>
                <a:schemeClr val="tx2"/>
              </a:solidFill>
              <a:latin typeface="Arial Black" panose="020B0A040201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914400" y="1371600"/>
            <a:ext cx="5867400" cy="6319038"/>
          </a:xfrm>
          <a:prstGeom prst="rect">
            <a:avLst/>
          </a:prstGeom>
        </p:spPr>
        <p:txBody>
          <a:bodyPr vert="horz" wrap="square" lIns="0" tIns="85725" rIns="0" bIns="0" rtlCol="0">
            <a:spAutoFit/>
          </a:bodyPr>
          <a:lstStyle/>
          <a:p>
            <a:pPr marL="469900" indent="-457200">
              <a:lnSpc>
                <a:spcPct val="100000"/>
              </a:lnSpc>
              <a:spcBef>
                <a:spcPts val="575"/>
              </a:spcBef>
              <a:buClr>
                <a:srgbClr val="0D0D0D"/>
              </a:buClr>
              <a:buSzPct val="93750"/>
              <a:buFont typeface="Wingdings" panose="05000000000000000000" pitchFamily="2" charset="2"/>
              <a:buChar char="Ø"/>
              <a:tabLst>
                <a:tab pos="286385" algn="l"/>
              </a:tabLst>
            </a:pPr>
            <a:r>
              <a:rPr lang="en-US" sz="2400" spc="-10" dirty="0">
                <a:latin typeface="Times New Roman" panose="02020603050405020304" pitchFamily="18" charset="0"/>
                <a:cs typeface="Times New Roman" panose="02020603050405020304" pitchFamily="18" charset="0"/>
              </a:rPr>
              <a:t>Abstract</a:t>
            </a:r>
          </a:p>
          <a:p>
            <a:pPr marL="469900" indent="-457200">
              <a:lnSpc>
                <a:spcPct val="100000"/>
              </a:lnSpc>
              <a:spcBef>
                <a:spcPts val="575"/>
              </a:spcBef>
              <a:buClr>
                <a:srgbClr val="0D0D0D"/>
              </a:buClr>
              <a:buSzPct val="93750"/>
              <a:buFont typeface="Wingdings" panose="05000000000000000000" pitchFamily="2" charset="2"/>
              <a:buChar char="Ø"/>
              <a:tabLst>
                <a:tab pos="286385" algn="l"/>
              </a:tabLst>
            </a:pPr>
            <a:r>
              <a:rPr lang="en-US" sz="2400" spc="-10" dirty="0">
                <a:latin typeface="Times New Roman" panose="02020603050405020304" pitchFamily="18" charset="0"/>
                <a:cs typeface="Times New Roman" panose="02020603050405020304" pitchFamily="18" charset="0"/>
              </a:rPr>
              <a:t>Introduction</a:t>
            </a:r>
            <a:endParaRPr lang="en-IN" sz="2400" spc="-10" dirty="0">
              <a:latin typeface="Times New Roman" panose="02020603050405020304" pitchFamily="18" charset="0"/>
              <a:cs typeface="Times New Roman" panose="02020603050405020304" pitchFamily="18" charset="0"/>
            </a:endParaRPr>
          </a:p>
          <a:p>
            <a:pPr marL="286385" indent="-273685">
              <a:lnSpc>
                <a:spcPct val="100000"/>
              </a:lnSpc>
              <a:spcBef>
                <a:spcPts val="575"/>
              </a:spcBef>
              <a:buClr>
                <a:srgbClr val="0D0D0D"/>
              </a:buClr>
              <a:buSzPct val="93750"/>
              <a:buFont typeface="Wingdings"/>
              <a:buChar char=""/>
              <a:tabLst>
                <a:tab pos="286385" algn="l"/>
              </a:tabLst>
            </a:pPr>
            <a:r>
              <a:rPr lang="en-IN" sz="2400" dirty="0">
                <a:latin typeface="Times New Roman" panose="02020603050405020304" pitchFamily="18" charset="0"/>
                <a:cs typeface="Times New Roman" panose="02020603050405020304" pitchFamily="18" charset="0"/>
              </a:rPr>
              <a:t> Existing System</a:t>
            </a:r>
            <a:endParaRPr sz="2400" dirty="0">
              <a:latin typeface="Times New Roman" panose="02020603050405020304" pitchFamily="18" charset="0"/>
              <a:cs typeface="Times New Roman" panose="02020603050405020304" pitchFamily="18" charset="0"/>
            </a:endParaRPr>
          </a:p>
          <a:p>
            <a:pPr marL="286385" indent="-273685">
              <a:lnSpc>
                <a:spcPct val="100000"/>
              </a:lnSpc>
              <a:spcBef>
                <a:spcPts val="575"/>
              </a:spcBef>
              <a:buClr>
                <a:srgbClr val="0D0D0D"/>
              </a:buClr>
              <a:buSzPct val="93750"/>
              <a:buFont typeface="Wingdings"/>
              <a:buChar char=""/>
              <a:tabLst>
                <a:tab pos="286385" algn="l"/>
              </a:tabLst>
            </a:pPr>
            <a:r>
              <a:rPr lang="en-IN" sz="2400" spc="-1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Disadvantages</a:t>
            </a:r>
            <a:endParaRPr lang="en-US" sz="2400" spc="-10" dirty="0">
              <a:latin typeface="Times New Roman" panose="02020603050405020304" pitchFamily="18" charset="0"/>
              <a:cs typeface="Times New Roman" panose="02020603050405020304" pitchFamily="18" charset="0"/>
            </a:endParaRPr>
          </a:p>
          <a:p>
            <a:pPr marL="286385" indent="-273685">
              <a:lnSpc>
                <a:spcPct val="100000"/>
              </a:lnSpc>
              <a:spcBef>
                <a:spcPts val="570"/>
              </a:spcBef>
              <a:buClr>
                <a:srgbClr val="0D0D0D"/>
              </a:buClr>
              <a:buSzPct val="93750"/>
              <a:buFont typeface="Wingdings"/>
              <a:buChar char=""/>
              <a:tabLst>
                <a:tab pos="286385" algn="l"/>
              </a:tabLst>
            </a:pPr>
            <a:r>
              <a:rPr lang="en-IN" sz="240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Proposed</a:t>
            </a:r>
            <a:r>
              <a:rPr sz="2400" spc="-2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System</a:t>
            </a:r>
            <a:endParaRPr lang="en-US" sz="2400" spc="-10" dirty="0">
              <a:latin typeface="Times New Roman" panose="02020603050405020304" pitchFamily="18" charset="0"/>
              <a:cs typeface="Times New Roman" panose="02020603050405020304" pitchFamily="18" charset="0"/>
            </a:endParaRPr>
          </a:p>
          <a:p>
            <a:pPr marL="286385" indent="-273685">
              <a:lnSpc>
                <a:spcPct val="100000"/>
              </a:lnSpc>
              <a:spcBef>
                <a:spcPts val="570"/>
              </a:spcBef>
              <a:buClr>
                <a:srgbClr val="0D0D0D"/>
              </a:buClr>
              <a:buSzPct val="93750"/>
              <a:buFont typeface="Wingdings"/>
              <a:buChar char=""/>
              <a:tabLst>
                <a:tab pos="286385" algn="l"/>
              </a:tabLst>
            </a:pPr>
            <a:r>
              <a:rPr lang="en-US" sz="2400" spc="-10" dirty="0">
                <a:latin typeface="Times New Roman" panose="02020603050405020304" pitchFamily="18" charset="0"/>
                <a:cs typeface="Times New Roman" panose="02020603050405020304" pitchFamily="18" charset="0"/>
              </a:rPr>
              <a:t> System Architecture </a:t>
            </a:r>
          </a:p>
          <a:p>
            <a:pPr marL="286385" indent="-273685">
              <a:lnSpc>
                <a:spcPct val="100000"/>
              </a:lnSpc>
              <a:spcBef>
                <a:spcPts val="570"/>
              </a:spcBef>
              <a:buClr>
                <a:srgbClr val="0D0D0D"/>
              </a:buClr>
              <a:buSzPct val="93750"/>
              <a:buFont typeface="Wingdings"/>
              <a:buChar char=""/>
              <a:tabLst>
                <a:tab pos="286385" algn="l"/>
              </a:tabLst>
            </a:pPr>
            <a:r>
              <a:rPr lang="en-US" sz="2400" spc="-10" dirty="0">
                <a:latin typeface="Times New Roman" panose="02020603050405020304" pitchFamily="18" charset="0"/>
                <a:cs typeface="Times New Roman" panose="02020603050405020304" pitchFamily="18" charset="0"/>
              </a:rPr>
              <a:t> Modules</a:t>
            </a:r>
          </a:p>
          <a:p>
            <a:pPr marL="286385" indent="-273685">
              <a:lnSpc>
                <a:spcPct val="100000"/>
              </a:lnSpc>
              <a:spcBef>
                <a:spcPts val="570"/>
              </a:spcBef>
              <a:buClr>
                <a:srgbClr val="0D0D0D"/>
              </a:buClr>
              <a:buSzPct val="93750"/>
              <a:buFont typeface="Wingdings"/>
              <a:buChar char=""/>
              <a:tabLst>
                <a:tab pos="286385" algn="l"/>
              </a:tabLst>
            </a:pPr>
            <a:r>
              <a:rPr lang="en-US" sz="2400" spc="-10" dirty="0">
                <a:latin typeface="Times New Roman" panose="02020603050405020304" pitchFamily="18" charset="0"/>
                <a:cs typeface="Times New Roman" panose="02020603050405020304" pitchFamily="18" charset="0"/>
              </a:rPr>
              <a:t> Algorithms</a:t>
            </a:r>
          </a:p>
          <a:p>
            <a:pPr marL="286385" indent="-273685">
              <a:lnSpc>
                <a:spcPct val="100000"/>
              </a:lnSpc>
              <a:spcBef>
                <a:spcPts val="570"/>
              </a:spcBef>
              <a:buClr>
                <a:srgbClr val="0D0D0D"/>
              </a:buClr>
              <a:buSzPct val="93750"/>
              <a:buFont typeface="Wingdings"/>
              <a:buChar char=""/>
              <a:tabLst>
                <a:tab pos="286385" algn="l"/>
              </a:tabLst>
            </a:pPr>
            <a:r>
              <a:rPr lang="en-US" sz="2400" spc="-10" dirty="0">
                <a:latin typeface="Times New Roman" panose="02020603050405020304" pitchFamily="18" charset="0"/>
                <a:cs typeface="Times New Roman" panose="02020603050405020304" pitchFamily="18" charset="0"/>
              </a:rPr>
              <a:t>UML Diagrams</a:t>
            </a:r>
            <a:endParaRPr sz="2400" dirty="0">
              <a:latin typeface="Times New Roman" panose="02020603050405020304" pitchFamily="18" charset="0"/>
              <a:cs typeface="Times New Roman" panose="02020603050405020304" pitchFamily="18" charset="0"/>
            </a:endParaRPr>
          </a:p>
          <a:p>
            <a:pPr marL="286385" indent="-273685">
              <a:lnSpc>
                <a:spcPct val="100000"/>
              </a:lnSpc>
              <a:spcBef>
                <a:spcPts val="575"/>
              </a:spcBef>
              <a:buClr>
                <a:srgbClr val="0D0D0D"/>
              </a:buClr>
              <a:buSzPct val="93750"/>
              <a:buFont typeface="Wingdings"/>
              <a:buChar char=""/>
              <a:tabLst>
                <a:tab pos="286385" algn="l"/>
              </a:tabLst>
            </a:pPr>
            <a:r>
              <a:rPr lang="en-IN" sz="240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Hardware</a:t>
            </a:r>
            <a:r>
              <a:rPr sz="2400" spc="-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and</a:t>
            </a:r>
            <a:r>
              <a:rPr sz="2400" spc="-2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sof</a:t>
            </a:r>
            <a:r>
              <a:rPr lang="en-US" sz="2400" dirty="0">
                <a:latin typeface="Times New Roman" panose="02020603050405020304" pitchFamily="18" charset="0"/>
                <a:cs typeface="Times New Roman" panose="02020603050405020304" pitchFamily="18" charset="0"/>
              </a:rPr>
              <a:t>t</a:t>
            </a:r>
            <a:r>
              <a:rPr sz="2400" dirty="0">
                <a:latin typeface="Times New Roman" panose="02020603050405020304" pitchFamily="18" charset="0"/>
                <a:cs typeface="Times New Roman" panose="02020603050405020304" pitchFamily="18" charset="0"/>
              </a:rPr>
              <a:t>ware</a:t>
            </a:r>
            <a:r>
              <a:rPr sz="2400" spc="-2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requirements</a:t>
            </a:r>
            <a:endParaRPr lang="en-US" sz="2400" spc="-10" dirty="0">
              <a:latin typeface="Times New Roman" panose="02020603050405020304" pitchFamily="18" charset="0"/>
              <a:cs typeface="Times New Roman" panose="02020603050405020304" pitchFamily="18" charset="0"/>
            </a:endParaRPr>
          </a:p>
          <a:p>
            <a:pPr marL="286385" indent="-273685">
              <a:lnSpc>
                <a:spcPct val="100000"/>
              </a:lnSpc>
              <a:spcBef>
                <a:spcPts val="575"/>
              </a:spcBef>
              <a:buClr>
                <a:srgbClr val="0D0D0D"/>
              </a:buClr>
              <a:buSzPct val="93750"/>
              <a:buFont typeface="Wingdings"/>
              <a:buChar char=""/>
              <a:tabLst>
                <a:tab pos="286385" algn="l"/>
              </a:tabLst>
            </a:pPr>
            <a:r>
              <a:rPr lang="en-IN" sz="2400" spc="-10" dirty="0">
                <a:latin typeface="Times New Roman" panose="02020603050405020304" pitchFamily="18" charset="0"/>
                <a:cs typeface="Times New Roman" panose="02020603050405020304" pitchFamily="18" charset="0"/>
              </a:rPr>
              <a:t> Results/Outcomes</a:t>
            </a:r>
          </a:p>
          <a:p>
            <a:pPr marL="286385" indent="-273685">
              <a:lnSpc>
                <a:spcPct val="100000"/>
              </a:lnSpc>
              <a:spcBef>
                <a:spcPts val="575"/>
              </a:spcBef>
              <a:buClr>
                <a:srgbClr val="0D0D0D"/>
              </a:buClr>
              <a:buSzPct val="93750"/>
              <a:buFont typeface="Wingdings"/>
              <a:buChar char=""/>
              <a:tabLst>
                <a:tab pos="286385" algn="l"/>
              </a:tabLst>
            </a:pPr>
            <a:r>
              <a:rPr lang="en-IN" sz="2400" spc="-10" dirty="0">
                <a:latin typeface="Times New Roman" panose="02020603050405020304" pitchFamily="18" charset="0"/>
                <a:cs typeface="Times New Roman" panose="02020603050405020304" pitchFamily="18" charset="0"/>
              </a:rPr>
              <a:t>Conclusion</a:t>
            </a:r>
            <a:endParaRPr lang="en-US" sz="2400" spc="-10" dirty="0">
              <a:latin typeface="Times New Roman" panose="02020603050405020304" pitchFamily="18" charset="0"/>
              <a:cs typeface="Times New Roman" panose="02020603050405020304" pitchFamily="18" charset="0"/>
            </a:endParaRPr>
          </a:p>
          <a:p>
            <a:pPr marL="12700">
              <a:spcBef>
                <a:spcPts val="575"/>
              </a:spcBef>
              <a:buClr>
                <a:srgbClr val="0D0D0D"/>
              </a:buClr>
              <a:buSzPct val="93750"/>
              <a:tabLst>
                <a:tab pos="286385" algn="l"/>
              </a:tabLst>
            </a:pPr>
            <a:endParaRPr lang="en-IN" sz="2400" dirty="0">
              <a:latin typeface="Times New Roman"/>
              <a:cs typeface="Times New Roman"/>
            </a:endParaRPr>
          </a:p>
          <a:p>
            <a:pPr marL="286385" indent="-273685">
              <a:lnSpc>
                <a:spcPct val="100000"/>
              </a:lnSpc>
              <a:spcBef>
                <a:spcPts val="575"/>
              </a:spcBef>
              <a:buClr>
                <a:srgbClr val="0D0D0D"/>
              </a:buClr>
              <a:buSzPct val="93750"/>
              <a:buFont typeface="Wingdings"/>
              <a:buChar char=""/>
              <a:tabLst>
                <a:tab pos="286385" algn="l"/>
              </a:tabLst>
            </a:pPr>
            <a:endParaRPr lang="en-US" sz="2800" spc="-10" dirty="0">
              <a:latin typeface="Times New Roman"/>
              <a:cs typeface="Times New Roman"/>
            </a:endParaRPr>
          </a:p>
        </p:txBody>
      </p:sp>
      <p:sp>
        <p:nvSpPr>
          <p:cNvPr id="5" name="Title 4">
            <a:extLst>
              <a:ext uri="{FF2B5EF4-FFF2-40B4-BE49-F238E27FC236}">
                <a16:creationId xmlns:a16="http://schemas.microsoft.com/office/drawing/2014/main" id="{5EB8C211-7FD8-43AE-1538-E82F8A6BF25F}"/>
              </a:ext>
            </a:extLst>
          </p:cNvPr>
          <p:cNvSpPr>
            <a:spLocks noGrp="1"/>
          </p:cNvSpPr>
          <p:nvPr>
            <p:ph type="title"/>
          </p:nvPr>
        </p:nvSpPr>
        <p:spPr>
          <a:xfrm>
            <a:off x="597535" y="762000"/>
            <a:ext cx="10996930" cy="609600"/>
          </a:xfrm>
        </p:spPr>
        <p:txBody>
          <a:bodyPr/>
          <a:lstStyle/>
          <a:p>
            <a:r>
              <a:rPr lang="en-US" sz="3600" dirty="0"/>
              <a:t>     </a:t>
            </a:r>
            <a:r>
              <a:rPr lang="en-US" sz="3200" b="1" dirty="0">
                <a:latin typeface="Times New Roman" panose="02020603050405020304" pitchFamily="18" charset="0"/>
                <a:cs typeface="Times New Roman" panose="02020603050405020304" pitchFamily="18" charset="0"/>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97535" y="859904"/>
            <a:ext cx="10996930" cy="740907"/>
          </a:xfrm>
          <a:prstGeom prst="rect">
            <a:avLst/>
          </a:prstGeom>
        </p:spPr>
        <p:txBody>
          <a:bodyPr vert="horz" wrap="square" lIns="0" tIns="246062" rIns="0" bIns="0" rtlCol="0">
            <a:spAutoFit/>
          </a:bodyPr>
          <a:lstStyle/>
          <a:p>
            <a:pPr marL="12700">
              <a:lnSpc>
                <a:spcPct val="100000"/>
              </a:lnSpc>
              <a:spcBef>
                <a:spcPts val="105"/>
              </a:spcBef>
            </a:pPr>
            <a:r>
              <a:rPr lang="en-US" sz="3200" b="1" spc="-10" dirty="0">
                <a:latin typeface="Times New Roman" panose="02020603050405020304" pitchFamily="18" charset="0"/>
                <a:cs typeface="Times New Roman" panose="02020603050405020304" pitchFamily="18" charset="0"/>
              </a:rPr>
              <a:t>                                        </a:t>
            </a:r>
            <a:r>
              <a:rPr sz="3200" b="1" spc="-10" dirty="0">
                <a:latin typeface="Times New Roman" panose="02020603050405020304" pitchFamily="18" charset="0"/>
                <a:cs typeface="Times New Roman" panose="02020603050405020304" pitchFamily="18" charset="0"/>
              </a:rPr>
              <a:t>Abstract</a:t>
            </a:r>
            <a:endParaRPr sz="3200" dirty="0">
              <a:latin typeface="Times New Roman" panose="02020603050405020304" pitchFamily="18" charset="0"/>
              <a:cs typeface="Times New Roman" panose="02020603050405020304" pitchFamily="18" charset="0"/>
            </a:endParaRPr>
          </a:p>
        </p:txBody>
      </p:sp>
      <p:sp>
        <p:nvSpPr>
          <p:cNvPr id="3" name="object 3"/>
          <p:cNvSpPr txBox="1"/>
          <p:nvPr/>
        </p:nvSpPr>
        <p:spPr>
          <a:xfrm>
            <a:off x="597535" y="1676400"/>
            <a:ext cx="10996930" cy="4321696"/>
          </a:xfrm>
          <a:prstGeom prst="rect">
            <a:avLst/>
          </a:prstGeom>
        </p:spPr>
        <p:txBody>
          <a:bodyPr vert="horz" wrap="square" lIns="0" tIns="12700" rIns="0" bIns="0" numCol="1" rtlCol="0">
            <a:spAutoFit/>
          </a:bodyPr>
          <a:lstStyle/>
          <a:p>
            <a:pPr algn="just"/>
            <a:r>
              <a:rPr lang="en-US" sz="2800" dirty="0">
                <a:latin typeface="Times New Roman" panose="02020603050405020304" pitchFamily="18" charset="0"/>
                <a:cs typeface="Times New Roman" panose="02020603050405020304" pitchFamily="18" charset="0"/>
              </a:rPr>
              <a:t>             Sleep disorder classification is crucial in improving human quality of life..</a:t>
            </a:r>
            <a:r>
              <a:rPr lang="en-IN" sz="2800" dirty="0">
                <a:latin typeface="Times New Roman" panose="02020603050405020304" pitchFamily="18" charset="0"/>
                <a:cs typeface="Times New Roman" panose="02020603050405020304" pitchFamily="18" charset="0"/>
              </a:rPr>
              <a:t>Evaluates machine learning and deep learning algorithms for classifying sleep disorders. Using the Sleep Health and Lifestyle Dataset.</a:t>
            </a:r>
            <a:r>
              <a:rPr lang="en-US" sz="2800" dirty="0">
                <a:latin typeface="Times New Roman" panose="02020603050405020304" pitchFamily="18" charset="0"/>
                <a:cs typeface="Times New Roman" panose="02020603050405020304" pitchFamily="18" charset="0"/>
              </a:rPr>
              <a:t> The k-nearest </a:t>
            </a:r>
            <a:r>
              <a:rPr lang="en-US" sz="2800" dirty="0" err="1">
                <a:latin typeface="Times New Roman" panose="02020603050405020304" pitchFamily="18" charset="0"/>
                <a:cs typeface="Times New Roman" panose="02020603050405020304" pitchFamily="18" charset="0"/>
              </a:rPr>
              <a:t>neighbours</a:t>
            </a:r>
            <a:r>
              <a:rPr lang="en-US" sz="2800" dirty="0">
                <a:latin typeface="Times New Roman" panose="02020603050405020304" pitchFamily="18" charset="0"/>
                <a:cs typeface="Times New Roman" panose="02020603050405020304" pitchFamily="18" charset="0"/>
              </a:rPr>
              <a:t>, support vector machine, decision tree, random forest deep learning algorithms were </a:t>
            </a:r>
            <a:r>
              <a:rPr lang="en-US" sz="2800" dirty="0" err="1">
                <a:latin typeface="Times New Roman" panose="02020603050405020304" pitchFamily="18" charset="0"/>
                <a:cs typeface="Times New Roman" panose="02020603050405020304" pitchFamily="18" charset="0"/>
              </a:rPr>
              <a:t>assessed.The</a:t>
            </a:r>
            <a:r>
              <a:rPr lang="en-US" sz="2800" dirty="0">
                <a:latin typeface="Times New Roman" panose="02020603050405020304" pitchFamily="18" charset="0"/>
                <a:cs typeface="Times New Roman" panose="02020603050405020304" pitchFamily="18" charset="0"/>
              </a:rPr>
              <a:t> Sleep Health and Lifestyle Dataset is used, which includes features like age, sleep duration, BMI, and stress level. The experimental results reveal significant performance differences between the evaluated algorithms. The proposed algorithms obtained a classification accuracy of 82.98%, 87.23%, 91.49% and  ,89.36%  respectively. </a:t>
            </a:r>
            <a:endParaRPr lang="en-IN" sz="2800" dirty="0">
              <a:latin typeface="Times New Roman" panose="02020603050405020304" pitchFamily="18" charset="0"/>
              <a:cs typeface="Times New Roman" panose="02020603050405020304" pitchFamily="18" charset="0"/>
            </a:endParaRPr>
          </a:p>
          <a:p>
            <a:pPr algn="just"/>
            <a:endParaRPr lang="en-IN" sz="2800" dirty="0">
              <a:latin typeface="Constantia" panose="02030602050306030303"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97534" y="1026096"/>
            <a:ext cx="10996930" cy="750525"/>
          </a:xfrm>
          <a:prstGeom prst="rect">
            <a:avLst/>
          </a:prstGeom>
        </p:spPr>
        <p:txBody>
          <a:bodyPr vert="horz" wrap="square" lIns="0" tIns="255587" rIns="0" bIns="0" rtlCol="0">
            <a:spAutoFit/>
          </a:bodyPr>
          <a:lstStyle/>
          <a:p>
            <a:pPr marL="12700">
              <a:lnSpc>
                <a:spcPct val="100000"/>
              </a:lnSpc>
              <a:spcBef>
                <a:spcPts val="105"/>
              </a:spcBef>
            </a:pPr>
            <a:r>
              <a:rPr lang="en-US" sz="3200" b="1" spc="-10" dirty="0">
                <a:latin typeface="Times New Roman" panose="02020603050405020304" pitchFamily="18" charset="0"/>
                <a:cs typeface="Times New Roman" panose="02020603050405020304" pitchFamily="18" charset="0"/>
              </a:rPr>
              <a:t>                                </a:t>
            </a:r>
            <a:r>
              <a:rPr sz="3200" b="1" spc="-10" dirty="0">
                <a:latin typeface="Times New Roman" panose="02020603050405020304" pitchFamily="18" charset="0"/>
                <a:cs typeface="Times New Roman" panose="02020603050405020304" pitchFamily="18" charset="0"/>
              </a:rPr>
              <a:t>Introduction</a:t>
            </a:r>
            <a:r>
              <a:rPr lang="en-US" sz="3200" b="1" spc="-10" dirty="0">
                <a:latin typeface="Times New Roman" panose="02020603050405020304" pitchFamily="18" charset="0"/>
                <a:cs typeface="Times New Roman" panose="02020603050405020304" pitchFamily="18" charset="0"/>
              </a:rPr>
              <a:t>   </a:t>
            </a:r>
            <a:endParaRPr sz="3200" dirty="0">
              <a:latin typeface="Times New Roman" panose="02020603050405020304" pitchFamily="18" charset="0"/>
              <a:cs typeface="Times New Roman" panose="02020603050405020304" pitchFamily="18" charset="0"/>
            </a:endParaRPr>
          </a:p>
        </p:txBody>
      </p:sp>
      <p:sp>
        <p:nvSpPr>
          <p:cNvPr id="5" name="Text Placeholder 4">
            <a:extLst>
              <a:ext uri="{FF2B5EF4-FFF2-40B4-BE49-F238E27FC236}">
                <a16:creationId xmlns:a16="http://schemas.microsoft.com/office/drawing/2014/main" id="{2C3E3702-8C51-26EA-E182-B610DB15F3CB}"/>
              </a:ext>
            </a:extLst>
          </p:cNvPr>
          <p:cNvSpPr>
            <a:spLocks noGrp="1"/>
          </p:cNvSpPr>
          <p:nvPr>
            <p:ph type="body" idx="1"/>
          </p:nvPr>
        </p:nvSpPr>
        <p:spPr>
          <a:xfrm>
            <a:off x="1086474" y="2323961"/>
            <a:ext cx="9704439" cy="3029034"/>
          </a:xfrm>
        </p:spPr>
        <p:txBody>
          <a:bodyPr/>
          <a:lstStyle/>
          <a:p>
            <a:r>
              <a:rPr lang="en-US" sz="2800" dirty="0">
                <a:latin typeface="Times New Roman" panose="02020603050405020304" pitchFamily="18" charset="0"/>
                <a:cs typeface="Times New Roman" panose="02020603050405020304" pitchFamily="18" charset="0"/>
              </a:rPr>
              <a:t>Sleep is vital for physical and mental health. However, disorders like sleep apnea and insomnia impact quality of life. Manual classification methods are prone to error and time-consuming. </a:t>
            </a:r>
          </a:p>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This study explores machine learning algorithms to automate and improve sleep disorder diagnosis.</a:t>
            </a:r>
          </a:p>
          <a:p>
            <a:pPr marL="12065" marR="5715" algn="just">
              <a:spcBef>
                <a:spcPts val="100"/>
              </a:spcBef>
              <a:buClr>
                <a:srgbClr val="0AD0D9"/>
              </a:buClr>
              <a:buSzPct val="93750"/>
              <a:tabLst>
                <a:tab pos="286385" algn="l"/>
              </a:tabLst>
            </a:pPr>
            <a:endParaRPr lang="en-US" sz="2800" dirty="0">
              <a:latin typeface="Times New Roman" panose="02020603050405020304" pitchFamily="18" charset="0"/>
              <a:cs typeface="Times New Roman" panose="02020603050405020304" pitchFamily="18" charset="0"/>
            </a:endParaRPr>
          </a:p>
        </p:txBody>
      </p:sp>
      <p:sp>
        <p:nvSpPr>
          <p:cNvPr id="3" name="object 3"/>
          <p:cNvSpPr txBox="1"/>
          <p:nvPr/>
        </p:nvSpPr>
        <p:spPr>
          <a:xfrm>
            <a:off x="683576" y="3429000"/>
            <a:ext cx="10824845" cy="382156"/>
          </a:xfrm>
          <a:prstGeom prst="rect">
            <a:avLst/>
          </a:prstGeom>
        </p:spPr>
        <p:txBody>
          <a:bodyPr vert="horz" wrap="square" lIns="0" tIns="12700" rIns="0" bIns="0" rtlCol="0">
            <a:spAutoFit/>
          </a:bodyPr>
          <a:lstStyle/>
          <a:p>
            <a:pPr marL="12065" marR="5715" algn="just">
              <a:lnSpc>
                <a:spcPct val="100000"/>
              </a:lnSpc>
              <a:spcBef>
                <a:spcPts val="100"/>
              </a:spcBef>
              <a:buClr>
                <a:srgbClr val="0AD0D9"/>
              </a:buClr>
              <a:buSzPct val="93750"/>
              <a:tabLst>
                <a:tab pos="286385" algn="l"/>
              </a:tabLst>
            </a:pPr>
            <a:endParaRPr lang="en-IN" sz="2400" dirty="0">
              <a:latin typeface="Times New Roman"/>
              <a:cs typeface="Times New Roman"/>
            </a:endParaRPr>
          </a:p>
        </p:txBody>
      </p:sp>
      <p:sp>
        <p:nvSpPr>
          <p:cNvPr id="8" name="Flowchart: Decision 7">
            <a:extLst>
              <a:ext uri="{FF2B5EF4-FFF2-40B4-BE49-F238E27FC236}">
                <a16:creationId xmlns:a16="http://schemas.microsoft.com/office/drawing/2014/main" id="{0B6A443E-8AF2-340A-17D7-E3DAEEA8746D}"/>
              </a:ext>
            </a:extLst>
          </p:cNvPr>
          <p:cNvSpPr/>
          <p:nvPr/>
        </p:nvSpPr>
        <p:spPr>
          <a:xfrm>
            <a:off x="682898" y="2452726"/>
            <a:ext cx="196463" cy="192512"/>
          </a:xfrm>
          <a:prstGeom prst="flowChartDecis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9" name="Flowchart: Decision 8">
            <a:extLst>
              <a:ext uri="{FF2B5EF4-FFF2-40B4-BE49-F238E27FC236}">
                <a16:creationId xmlns:a16="http://schemas.microsoft.com/office/drawing/2014/main" id="{F1C5C657-DF29-46AA-F67B-F5A0923342AC}"/>
              </a:ext>
            </a:extLst>
          </p:cNvPr>
          <p:cNvSpPr/>
          <p:nvPr/>
        </p:nvSpPr>
        <p:spPr>
          <a:xfrm>
            <a:off x="682899" y="4148868"/>
            <a:ext cx="196463" cy="192512"/>
          </a:xfrm>
          <a:prstGeom prst="flowChartDecis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96900" y="1025525"/>
            <a:ext cx="10998200" cy="1001556"/>
          </a:xfrm>
        </p:spPr>
        <p:txBody>
          <a:bodyPr vert="horz" wrap="square" lIns="0" tIns="16510" rIns="0" bIns="0" rtlCol="0">
            <a:spAutoFit/>
          </a:bodyPr>
          <a:lstStyle/>
          <a:p>
            <a:br>
              <a:rPr lang="en-IN" sz="3200" b="1" dirty="0">
                <a:latin typeface="Times New Roman" panose="02020603050405020304" pitchFamily="18" charset="0"/>
                <a:cs typeface="Times New Roman" panose="02020603050405020304" pitchFamily="18" charset="0"/>
              </a:rPr>
            </a:br>
            <a:r>
              <a:rPr lang="en-IN" sz="3200" b="1" dirty="0">
                <a:latin typeface="Times New Roman" panose="02020603050405020304" pitchFamily="18" charset="0"/>
                <a:cs typeface="Times New Roman" panose="02020603050405020304" pitchFamily="18" charset="0"/>
              </a:rPr>
              <a:t>                                  Existing system</a:t>
            </a:r>
          </a:p>
        </p:txBody>
      </p:sp>
      <p:sp>
        <p:nvSpPr>
          <p:cNvPr id="7" name="TextBox 6">
            <a:extLst>
              <a:ext uri="{FF2B5EF4-FFF2-40B4-BE49-F238E27FC236}">
                <a16:creationId xmlns:a16="http://schemas.microsoft.com/office/drawing/2014/main" id="{4AE5A12B-7BE6-7E0E-ABBE-ADEF55703806}"/>
              </a:ext>
            </a:extLst>
          </p:cNvPr>
          <p:cNvSpPr txBox="1"/>
          <p:nvPr/>
        </p:nvSpPr>
        <p:spPr>
          <a:xfrm>
            <a:off x="990600" y="2362200"/>
            <a:ext cx="11201400" cy="2739211"/>
          </a:xfrm>
          <a:prstGeom prst="rect">
            <a:avLst/>
          </a:prstGeom>
          <a:noFill/>
        </p:spPr>
        <p:txBody>
          <a:bodyPr wrap="square">
            <a:spAutoFit/>
          </a:bodyPr>
          <a:lstStyle/>
          <a:p>
            <a:pPr marL="457200" indent="-4572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Manual evaluation of polysomnography(PSG) is time-intensive an</a:t>
            </a:r>
          </a:p>
          <a:p>
            <a:r>
              <a:rPr lang="en-US" sz="2800" dirty="0">
                <a:latin typeface="Times New Roman" panose="02020603050405020304" pitchFamily="18" charset="0"/>
                <a:cs typeface="Times New Roman" panose="02020603050405020304" pitchFamily="18" charset="0"/>
              </a:rPr>
              <a:t>      error–prone.</a:t>
            </a:r>
          </a:p>
          <a:p>
            <a:pPr marL="457200" indent="-4572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Time-consuming</a:t>
            </a:r>
          </a:p>
          <a:p>
            <a:pPr marL="457200" indent="-4572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Prone to human error</a:t>
            </a:r>
          </a:p>
          <a:p>
            <a:pPr marL="457200" indent="-4572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Need for automated, accurate ML systems.</a:t>
            </a:r>
          </a:p>
          <a:p>
            <a:pPr marL="457200" indent="-4572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Lack of effective optimization algorithms for high-dimensional datasets</a:t>
            </a:r>
            <a:r>
              <a:rPr lang="en-US" sz="3200" dirty="0">
                <a:latin typeface="Constantia" panose="02030602050306030303" pitchFamily="18" charset="0"/>
              </a:rPr>
              <a:t>.</a:t>
            </a:r>
            <a:endParaRPr lang="en-IN" sz="3200" dirty="0">
              <a:latin typeface="Constantia" panose="02030602050306030303"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97534" y="1026096"/>
            <a:ext cx="10996930" cy="693780"/>
          </a:xfrm>
          <a:prstGeom prst="rect">
            <a:avLst/>
          </a:prstGeom>
        </p:spPr>
        <p:txBody>
          <a:bodyPr vert="horz" wrap="square" lIns="0" tIns="16510" rIns="0" bIns="0" rtlCol="0">
            <a:spAutoFit/>
          </a:bodyPr>
          <a:lstStyle/>
          <a:p>
            <a:pPr marL="12700">
              <a:lnSpc>
                <a:spcPct val="100000"/>
              </a:lnSpc>
              <a:spcBef>
                <a:spcPts val="130"/>
              </a:spcBef>
            </a:pPr>
            <a:r>
              <a:rPr lang="en-US" sz="4400" b="1" spc="-20" dirty="0">
                <a:latin typeface="Times New Roman" panose="02020603050405020304" pitchFamily="18" charset="0"/>
                <a:cs typeface="Times New Roman" panose="02020603050405020304" pitchFamily="18" charset="0"/>
              </a:rPr>
              <a:t>                            </a:t>
            </a:r>
            <a:r>
              <a:rPr lang="en-US" sz="3200" b="1" spc="-20" dirty="0">
                <a:latin typeface="Times New Roman" panose="02020603050405020304" pitchFamily="18" charset="0"/>
                <a:cs typeface="Times New Roman" panose="02020603050405020304" pitchFamily="18" charset="0"/>
              </a:rPr>
              <a:t>D</a:t>
            </a:r>
            <a:r>
              <a:rPr sz="3200" b="1" spc="-20" dirty="0">
                <a:latin typeface="Times New Roman" panose="02020603050405020304" pitchFamily="18" charset="0"/>
                <a:cs typeface="Times New Roman" panose="02020603050405020304" pitchFamily="18" charset="0"/>
              </a:rPr>
              <a:t>isadvantages</a:t>
            </a:r>
          </a:p>
        </p:txBody>
      </p:sp>
      <p:sp>
        <p:nvSpPr>
          <p:cNvPr id="4" name="TextBox 3">
            <a:extLst>
              <a:ext uri="{FF2B5EF4-FFF2-40B4-BE49-F238E27FC236}">
                <a16:creationId xmlns:a16="http://schemas.microsoft.com/office/drawing/2014/main" id="{EB3D9A58-BA8F-E5D3-3544-6CA49D63E1D2}"/>
              </a:ext>
            </a:extLst>
          </p:cNvPr>
          <p:cNvSpPr txBox="1"/>
          <p:nvPr/>
        </p:nvSpPr>
        <p:spPr>
          <a:xfrm>
            <a:off x="1543018" y="2209800"/>
            <a:ext cx="9829800" cy="3108543"/>
          </a:xfrm>
          <a:prstGeom prst="rect">
            <a:avLst/>
          </a:prstGeom>
          <a:noFill/>
        </p:spPr>
        <p:txBody>
          <a:bodyPr wrap="square">
            <a:spAutoFit/>
          </a:bodyPr>
          <a:lstStyle/>
          <a:p>
            <a:r>
              <a:rPr lang="en-US" sz="2800" dirty="0">
                <a:latin typeface="Times New Roman" panose="02020603050405020304" pitchFamily="18" charset="0"/>
                <a:cs typeface="Times New Roman" panose="02020603050405020304" pitchFamily="18" charset="0"/>
              </a:rPr>
              <a:t>High dependency on specialists.</a:t>
            </a:r>
          </a:p>
          <a:p>
            <a:pPr marL="457200" indent="-457200">
              <a:buFontTx/>
              <a:buChar char="-"/>
            </a:pPr>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Limited datasets for training and validation.</a:t>
            </a:r>
          </a:p>
          <a:p>
            <a:pPr marL="457200" indent="-457200">
              <a:buFontTx/>
              <a:buChar char="-"/>
            </a:pPr>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Challenges in data quality: missing data and noise.</a:t>
            </a:r>
          </a:p>
          <a:p>
            <a:pPr marL="457200" indent="-457200">
              <a:buFontTx/>
              <a:buChar char="-"/>
            </a:pPr>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Inefficient feature selection in traditional methods.</a:t>
            </a:r>
          </a:p>
        </p:txBody>
      </p:sp>
      <p:sp>
        <p:nvSpPr>
          <p:cNvPr id="6" name="Flowchart: Extract 5">
            <a:extLst>
              <a:ext uri="{FF2B5EF4-FFF2-40B4-BE49-F238E27FC236}">
                <a16:creationId xmlns:a16="http://schemas.microsoft.com/office/drawing/2014/main" id="{945BD563-1B53-201B-DD40-87182694F692}"/>
              </a:ext>
            </a:extLst>
          </p:cNvPr>
          <p:cNvSpPr/>
          <p:nvPr/>
        </p:nvSpPr>
        <p:spPr>
          <a:xfrm rot="5400000">
            <a:off x="876817" y="3239018"/>
            <a:ext cx="132348" cy="247617"/>
          </a:xfrm>
          <a:prstGeom prst="flowChartExtra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dirty="0"/>
          </a:p>
        </p:txBody>
      </p:sp>
      <p:sp>
        <p:nvSpPr>
          <p:cNvPr id="9" name="Flowchart: Extract 8">
            <a:extLst>
              <a:ext uri="{FF2B5EF4-FFF2-40B4-BE49-F238E27FC236}">
                <a16:creationId xmlns:a16="http://schemas.microsoft.com/office/drawing/2014/main" id="{3EFD8C98-C5B7-039B-CDFD-00C2C0F593DB}"/>
              </a:ext>
            </a:extLst>
          </p:cNvPr>
          <p:cNvSpPr/>
          <p:nvPr/>
        </p:nvSpPr>
        <p:spPr>
          <a:xfrm rot="5400000">
            <a:off x="876817" y="2344402"/>
            <a:ext cx="132348" cy="247617"/>
          </a:xfrm>
          <a:prstGeom prst="flowChartExtra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dirty="0"/>
          </a:p>
        </p:txBody>
      </p:sp>
      <p:sp>
        <p:nvSpPr>
          <p:cNvPr id="10" name="Flowchart: Extract 9">
            <a:extLst>
              <a:ext uri="{FF2B5EF4-FFF2-40B4-BE49-F238E27FC236}">
                <a16:creationId xmlns:a16="http://schemas.microsoft.com/office/drawing/2014/main" id="{64C6D8DB-0ADE-6445-2482-7524F5BC2402}"/>
              </a:ext>
            </a:extLst>
          </p:cNvPr>
          <p:cNvSpPr/>
          <p:nvPr/>
        </p:nvSpPr>
        <p:spPr>
          <a:xfrm rot="5400000">
            <a:off x="876817" y="4116775"/>
            <a:ext cx="132348" cy="247617"/>
          </a:xfrm>
          <a:prstGeom prst="flowChartExtra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dirty="0"/>
          </a:p>
        </p:txBody>
      </p:sp>
      <p:sp>
        <p:nvSpPr>
          <p:cNvPr id="11" name="Flowchart: Extract 10">
            <a:extLst>
              <a:ext uri="{FF2B5EF4-FFF2-40B4-BE49-F238E27FC236}">
                <a16:creationId xmlns:a16="http://schemas.microsoft.com/office/drawing/2014/main" id="{B5AC31CC-B87B-B015-3F41-55B8DA11AF01}"/>
              </a:ext>
            </a:extLst>
          </p:cNvPr>
          <p:cNvSpPr/>
          <p:nvPr/>
        </p:nvSpPr>
        <p:spPr>
          <a:xfrm rot="5400000">
            <a:off x="876817" y="4968304"/>
            <a:ext cx="132348" cy="247617"/>
          </a:xfrm>
          <a:prstGeom prst="flowChartExtra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10156" y="1203682"/>
            <a:ext cx="10784307" cy="509114"/>
          </a:xfrm>
          <a:prstGeom prst="rect">
            <a:avLst/>
          </a:prstGeom>
        </p:spPr>
        <p:txBody>
          <a:bodyPr vert="horz" wrap="square" lIns="0" tIns="16510" rIns="0" bIns="0" rtlCol="0">
            <a:spAutoFit/>
          </a:bodyPr>
          <a:lstStyle/>
          <a:p>
            <a:pPr marL="12700">
              <a:lnSpc>
                <a:spcPct val="100000"/>
              </a:lnSpc>
              <a:spcBef>
                <a:spcPts val="130"/>
              </a:spcBef>
            </a:pPr>
            <a:r>
              <a:rPr lang="en-US" sz="3200" b="1" dirty="0">
                <a:latin typeface="Times New Roman" panose="02020603050405020304" pitchFamily="18" charset="0"/>
                <a:cs typeface="Times New Roman" panose="02020603050405020304" pitchFamily="18" charset="0"/>
              </a:rPr>
              <a:t>                               </a:t>
            </a:r>
            <a:r>
              <a:rPr sz="3200" b="1" dirty="0">
                <a:latin typeface="Times New Roman" panose="02020603050405020304" pitchFamily="18" charset="0"/>
                <a:cs typeface="Times New Roman" panose="02020603050405020304" pitchFamily="18" charset="0"/>
              </a:rPr>
              <a:t>Proposed</a:t>
            </a:r>
            <a:r>
              <a:rPr sz="3200" b="1" spc="-245" dirty="0">
                <a:latin typeface="Times New Roman" panose="02020603050405020304" pitchFamily="18" charset="0"/>
                <a:cs typeface="Times New Roman" panose="02020603050405020304" pitchFamily="18" charset="0"/>
              </a:rPr>
              <a:t> </a:t>
            </a:r>
            <a:r>
              <a:rPr sz="3200" b="1" spc="-10" dirty="0">
                <a:latin typeface="Times New Roman" panose="02020603050405020304" pitchFamily="18" charset="0"/>
                <a:cs typeface="Times New Roman" panose="02020603050405020304" pitchFamily="18" charset="0"/>
              </a:rPr>
              <a:t>System</a:t>
            </a:r>
          </a:p>
        </p:txBody>
      </p:sp>
      <p:sp>
        <p:nvSpPr>
          <p:cNvPr id="5" name="TextBox 4">
            <a:extLst>
              <a:ext uri="{FF2B5EF4-FFF2-40B4-BE49-F238E27FC236}">
                <a16:creationId xmlns:a16="http://schemas.microsoft.com/office/drawing/2014/main" id="{FAC4694B-033A-E432-73E4-11C44B54D5EB}"/>
              </a:ext>
            </a:extLst>
          </p:cNvPr>
          <p:cNvSpPr txBox="1"/>
          <p:nvPr/>
        </p:nvSpPr>
        <p:spPr>
          <a:xfrm>
            <a:off x="1066800" y="2319867"/>
            <a:ext cx="9601200" cy="3108543"/>
          </a:xfrm>
          <a:prstGeom prst="rect">
            <a:avLst/>
          </a:prstGeom>
          <a:noFill/>
        </p:spPr>
        <p:txBody>
          <a:bodyPr wrap="square">
            <a:spAutoFit/>
          </a:bodyPr>
          <a:lstStyle/>
          <a:p>
            <a:r>
              <a:rPr lang="en-IN" sz="2800" dirty="0">
                <a:latin typeface="Times New Roman" panose="02020603050405020304" pitchFamily="18" charset="0"/>
                <a:cs typeface="Times New Roman" panose="02020603050405020304" pitchFamily="18" charset="0"/>
              </a:rPr>
              <a:t>Implements genetic algorithm (GA) for hyperparameter optimization.</a:t>
            </a:r>
          </a:p>
          <a:p>
            <a:r>
              <a:rPr lang="en-IN" sz="2800" dirty="0">
                <a:latin typeface="Times New Roman" panose="02020603050405020304" pitchFamily="18" charset="0"/>
                <a:cs typeface="Times New Roman" panose="02020603050405020304" pitchFamily="18" charset="0"/>
              </a:rPr>
              <a:t>Automates feature selection to enhance classification performance.</a:t>
            </a:r>
          </a:p>
          <a:p>
            <a:r>
              <a:rPr lang="en-IN" sz="2800" dirty="0">
                <a:latin typeface="Times New Roman" panose="02020603050405020304" pitchFamily="18" charset="0"/>
                <a:cs typeface="Times New Roman" panose="02020603050405020304" pitchFamily="18" charset="0"/>
              </a:rPr>
              <a:t>Uses Decision Tree  achieving 91.92% accuracy.</a:t>
            </a:r>
          </a:p>
          <a:p>
            <a:r>
              <a:rPr lang="en-IN" sz="2800" dirty="0">
                <a:latin typeface="Times New Roman" panose="02020603050405020304" pitchFamily="18" charset="0"/>
                <a:cs typeface="Times New Roman" panose="02020603050405020304" pitchFamily="18" charset="0"/>
              </a:rPr>
              <a:t>Evaluates models using metrics like precision, recall, and F1-score.</a:t>
            </a:r>
          </a:p>
        </p:txBody>
      </p:sp>
      <p:sp>
        <p:nvSpPr>
          <p:cNvPr id="6" name="Star: 4 Points 5">
            <a:extLst>
              <a:ext uri="{FF2B5EF4-FFF2-40B4-BE49-F238E27FC236}">
                <a16:creationId xmlns:a16="http://schemas.microsoft.com/office/drawing/2014/main" id="{56E24946-4F88-9D09-8918-0235DF83D6A7}"/>
              </a:ext>
            </a:extLst>
          </p:cNvPr>
          <p:cNvSpPr/>
          <p:nvPr/>
        </p:nvSpPr>
        <p:spPr>
          <a:xfrm flipV="1">
            <a:off x="810155" y="2509062"/>
            <a:ext cx="127595" cy="152400"/>
          </a:xfrm>
          <a:prstGeom prst="star4">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7" name="Star: 4 Points 6">
            <a:extLst>
              <a:ext uri="{FF2B5EF4-FFF2-40B4-BE49-F238E27FC236}">
                <a16:creationId xmlns:a16="http://schemas.microsoft.com/office/drawing/2014/main" id="{E56BA07D-EE65-6D76-C196-0F71E50C21E9}"/>
              </a:ext>
            </a:extLst>
          </p:cNvPr>
          <p:cNvSpPr/>
          <p:nvPr/>
        </p:nvSpPr>
        <p:spPr>
          <a:xfrm flipV="1">
            <a:off x="810155" y="4648200"/>
            <a:ext cx="127595" cy="152400"/>
          </a:xfrm>
          <a:prstGeom prst="star4">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3" name="Star: 4 Points 2">
            <a:extLst>
              <a:ext uri="{FF2B5EF4-FFF2-40B4-BE49-F238E27FC236}">
                <a16:creationId xmlns:a16="http://schemas.microsoft.com/office/drawing/2014/main" id="{BDFD586D-91A8-CBD8-AA46-E5B1F952C396}"/>
              </a:ext>
            </a:extLst>
          </p:cNvPr>
          <p:cNvSpPr/>
          <p:nvPr/>
        </p:nvSpPr>
        <p:spPr>
          <a:xfrm flipV="1">
            <a:off x="810156" y="3385610"/>
            <a:ext cx="127595" cy="152400"/>
          </a:xfrm>
          <a:prstGeom prst="star4">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4" name="Star: 4 Points 3">
            <a:extLst>
              <a:ext uri="{FF2B5EF4-FFF2-40B4-BE49-F238E27FC236}">
                <a16:creationId xmlns:a16="http://schemas.microsoft.com/office/drawing/2014/main" id="{1EF79CFC-823F-E408-40D0-0F8723D88CE7}"/>
              </a:ext>
            </a:extLst>
          </p:cNvPr>
          <p:cNvSpPr/>
          <p:nvPr/>
        </p:nvSpPr>
        <p:spPr>
          <a:xfrm flipV="1">
            <a:off x="787123" y="4205278"/>
            <a:ext cx="127595" cy="152400"/>
          </a:xfrm>
          <a:prstGeom prst="star4">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CDE05-CA83-2B1E-5E49-0EAB515CBA19}"/>
              </a:ext>
            </a:extLst>
          </p:cNvPr>
          <p:cNvSpPr>
            <a:spLocks noGrp="1"/>
          </p:cNvSpPr>
          <p:nvPr>
            <p:ph type="title"/>
          </p:nvPr>
        </p:nvSpPr>
        <p:spPr>
          <a:xfrm>
            <a:off x="-609600" y="685800"/>
            <a:ext cx="11582400" cy="762000"/>
          </a:xfrm>
        </p:spPr>
        <p:txBody>
          <a:bodyPr/>
          <a:lstStyle/>
          <a:p>
            <a:pPr algn="l"/>
            <a:r>
              <a:rPr lang="en-US" dirty="0"/>
              <a:t>                              </a:t>
            </a:r>
            <a:r>
              <a:rPr lang="en-US" sz="3200" b="1" dirty="0">
                <a:latin typeface="Times New Roman" panose="02020603050405020304" pitchFamily="18" charset="0"/>
                <a:cs typeface="Times New Roman" panose="02020603050405020304" pitchFamily="18" charset="0"/>
              </a:rPr>
              <a:t>ARCHITECTURE</a:t>
            </a:r>
          </a:p>
        </p:txBody>
      </p:sp>
      <p:pic>
        <p:nvPicPr>
          <p:cNvPr id="5" name="Picture 4" descr="A diagram of a software development process&#10;&#10;AI-generated content may be incorrect.">
            <a:extLst>
              <a:ext uri="{FF2B5EF4-FFF2-40B4-BE49-F238E27FC236}">
                <a16:creationId xmlns:a16="http://schemas.microsoft.com/office/drawing/2014/main" id="{5B58DE4B-786C-AFB3-FD51-57C7F135D152}"/>
              </a:ext>
            </a:extLst>
          </p:cNvPr>
          <p:cNvPicPr>
            <a:picLocks noChangeAspect="1"/>
          </p:cNvPicPr>
          <p:nvPr/>
        </p:nvPicPr>
        <p:blipFill>
          <a:blip r:embed="rId3">
            <a:extLst>
              <a:ext uri="{28A0092B-C50C-407E-A947-70E740481C1C}">
                <a14:useLocalDpi xmlns:a14="http://schemas.microsoft.com/office/drawing/2010/main" val="0"/>
              </a:ext>
            </a:extLst>
          </a:blip>
          <a:srcRect l="5964" r="1375" b="2009"/>
          <a:stretch>
            <a:fillRect/>
          </a:stretch>
        </p:blipFill>
        <p:spPr>
          <a:xfrm>
            <a:off x="1524000" y="1447800"/>
            <a:ext cx="9448800" cy="5029201"/>
          </a:xfrm>
          <a:prstGeom prst="rect">
            <a:avLst/>
          </a:prstGeom>
          <a:ln>
            <a:noFill/>
          </a:ln>
          <a:effectLst>
            <a:softEdge rad="112500"/>
          </a:effectLst>
        </p:spPr>
      </p:pic>
    </p:spTree>
    <p:extLst>
      <p:ext uri="{BB962C8B-B14F-4D97-AF65-F5344CB8AC3E}">
        <p14:creationId xmlns:p14="http://schemas.microsoft.com/office/powerpoint/2010/main" val="34920820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AA27F72-D48E-2BEB-EC1C-DD0E37A48287}"/>
              </a:ext>
            </a:extLst>
          </p:cNvPr>
          <p:cNvSpPr>
            <a:spLocks noGrp="1"/>
          </p:cNvSpPr>
          <p:nvPr>
            <p:ph type="ctrTitle"/>
          </p:nvPr>
        </p:nvSpPr>
        <p:spPr>
          <a:xfrm flipV="1">
            <a:off x="914400" y="-1066800"/>
            <a:ext cx="10363200" cy="685800"/>
          </a:xfrm>
        </p:spPr>
        <p:txBody>
          <a:bodyPr/>
          <a:lstStyle/>
          <a:p>
            <a:endParaRPr lang="en-IN" dirty="0"/>
          </a:p>
        </p:txBody>
      </p:sp>
      <p:sp>
        <p:nvSpPr>
          <p:cNvPr id="5" name="Subtitle 4">
            <a:extLst>
              <a:ext uri="{FF2B5EF4-FFF2-40B4-BE49-F238E27FC236}">
                <a16:creationId xmlns:a16="http://schemas.microsoft.com/office/drawing/2014/main" id="{AA8FF815-225D-7B93-E2AB-7584EC3BD271}"/>
              </a:ext>
            </a:extLst>
          </p:cNvPr>
          <p:cNvSpPr>
            <a:spLocks noGrp="1"/>
          </p:cNvSpPr>
          <p:nvPr>
            <p:ph type="subTitle" idx="4"/>
          </p:nvPr>
        </p:nvSpPr>
        <p:spPr>
          <a:xfrm>
            <a:off x="609600" y="948690"/>
            <a:ext cx="12039600" cy="4739759"/>
          </a:xfrm>
        </p:spPr>
        <p:txBody>
          <a:bodyPr/>
          <a:lstStyle/>
          <a:p>
            <a:pPr algn="l"/>
            <a:endParaRPr lang="en-IN" sz="2800" b="1" dirty="0">
              <a:latin typeface="Times New Roman" panose="02020603050405020304" pitchFamily="18" charset="0"/>
              <a:cs typeface="Times New Roman" panose="02020603050405020304" pitchFamily="18" charset="0"/>
            </a:endParaRPr>
          </a:p>
          <a:p>
            <a:pPr marL="457200" indent="-457200" algn="l">
              <a:buFont typeface="Wingdings" panose="05000000000000000000" pitchFamily="2" charset="2"/>
              <a:buChar char="Ø"/>
            </a:pPr>
            <a:endParaRPr lang="en-IN" sz="2800" b="1" dirty="0">
              <a:latin typeface="Times New Roman" panose="02020603050405020304" pitchFamily="18" charset="0"/>
              <a:cs typeface="Times New Roman" panose="02020603050405020304" pitchFamily="18" charset="0"/>
            </a:endParaRPr>
          </a:p>
          <a:p>
            <a:pPr marL="457200" indent="-457200" algn="l">
              <a:buFont typeface="Wingdings" panose="05000000000000000000" pitchFamily="2" charset="2"/>
              <a:buChar char="Ø"/>
            </a:pPr>
            <a:r>
              <a:rPr lang="en-IN" sz="2800" b="1" dirty="0">
                <a:latin typeface="Times New Roman" panose="02020603050405020304" pitchFamily="18" charset="0"/>
                <a:cs typeface="Times New Roman" panose="02020603050405020304" pitchFamily="18" charset="0"/>
              </a:rPr>
              <a:t>Data collection:</a:t>
            </a:r>
            <a:r>
              <a:rPr lang="en-IN" sz="2800" dirty="0">
                <a:latin typeface="Times New Roman" panose="02020603050405020304" pitchFamily="18" charset="0"/>
                <a:cs typeface="Times New Roman" panose="02020603050405020304" pitchFamily="18" charset="0"/>
              </a:rPr>
              <a:t> Gather sleep-related data.</a:t>
            </a:r>
          </a:p>
          <a:p>
            <a:pPr marL="457200" indent="-457200" algn="l">
              <a:buFont typeface="Wingdings" panose="05000000000000000000" pitchFamily="2" charset="2"/>
              <a:buChar char="Ø"/>
            </a:pPr>
            <a:r>
              <a:rPr lang="en-IN" sz="2800" b="1" dirty="0">
                <a:latin typeface="Times New Roman" panose="02020603050405020304" pitchFamily="18" charset="0"/>
                <a:cs typeface="Times New Roman" panose="02020603050405020304" pitchFamily="18" charset="0"/>
              </a:rPr>
              <a:t>Data </a:t>
            </a:r>
            <a:r>
              <a:rPr lang="en-IN" sz="2800" b="1" dirty="0" err="1">
                <a:latin typeface="Times New Roman" panose="02020603050405020304" pitchFamily="18" charset="0"/>
                <a:cs typeface="Times New Roman" panose="02020603050405020304" pitchFamily="18" charset="0"/>
              </a:rPr>
              <a:t>Acquisition:</a:t>
            </a:r>
            <a:r>
              <a:rPr lang="en-IN" sz="2800" dirty="0" err="1">
                <a:latin typeface="Times New Roman" panose="02020603050405020304" pitchFamily="18" charset="0"/>
                <a:cs typeface="Times New Roman" panose="02020603050405020304" pitchFamily="18" charset="0"/>
              </a:rPr>
              <a:t>Get</a:t>
            </a:r>
            <a:r>
              <a:rPr lang="en-IN" sz="2800" dirty="0">
                <a:latin typeface="Times New Roman" panose="02020603050405020304" pitchFamily="18" charset="0"/>
                <a:cs typeface="Times New Roman" panose="02020603050405020304" pitchFamily="18" charset="0"/>
              </a:rPr>
              <a:t> the dataset.</a:t>
            </a:r>
          </a:p>
          <a:p>
            <a:pPr marL="457200" indent="-457200" algn="l">
              <a:buFont typeface="Wingdings" panose="05000000000000000000" pitchFamily="2" charset="2"/>
              <a:buChar char="Ø"/>
            </a:pPr>
            <a:r>
              <a:rPr lang="en-IN" sz="2800" b="1" dirty="0">
                <a:latin typeface="Times New Roman" panose="02020603050405020304" pitchFamily="18" charset="0"/>
                <a:cs typeface="Times New Roman" panose="02020603050405020304" pitchFamily="18" charset="0"/>
              </a:rPr>
              <a:t>Preprocessing: </a:t>
            </a:r>
            <a:r>
              <a:rPr lang="en-IN" sz="2800" dirty="0">
                <a:latin typeface="Times New Roman" panose="02020603050405020304" pitchFamily="18" charset="0"/>
                <a:cs typeface="Times New Roman" panose="02020603050405020304" pitchFamily="18" charset="0"/>
              </a:rPr>
              <a:t>Normalize the data for better model performance.</a:t>
            </a:r>
          </a:p>
          <a:p>
            <a:pPr marL="457200" indent="-457200" algn="l">
              <a:buFont typeface="Wingdings" panose="05000000000000000000" pitchFamily="2" charset="2"/>
              <a:buChar char="Ø"/>
            </a:pPr>
            <a:r>
              <a:rPr lang="en-IN" sz="2800" b="1" dirty="0">
                <a:latin typeface="Times New Roman" panose="02020603050405020304" pitchFamily="18" charset="0"/>
                <a:cs typeface="Times New Roman" panose="02020603050405020304" pitchFamily="18" charset="0"/>
              </a:rPr>
              <a:t>Model </a:t>
            </a:r>
            <a:r>
              <a:rPr lang="en-IN" sz="2800" b="1" dirty="0" err="1">
                <a:latin typeface="Times New Roman" panose="02020603050405020304" pitchFamily="18" charset="0"/>
                <a:cs typeface="Times New Roman" panose="02020603050405020304" pitchFamily="18" charset="0"/>
              </a:rPr>
              <a:t>selection:</a:t>
            </a:r>
            <a:r>
              <a:rPr lang="en-IN" sz="2800" dirty="0" err="1">
                <a:latin typeface="Times New Roman" panose="02020603050405020304" pitchFamily="18" charset="0"/>
                <a:cs typeface="Times New Roman" panose="02020603050405020304" pitchFamily="18" charset="0"/>
              </a:rPr>
              <a:t>Choose</a:t>
            </a:r>
            <a:r>
              <a:rPr lang="en-IN" sz="2800" dirty="0">
                <a:latin typeface="Times New Roman" panose="02020603050405020304" pitchFamily="18" charset="0"/>
                <a:cs typeface="Times New Roman" panose="02020603050405020304" pitchFamily="18" charset="0"/>
              </a:rPr>
              <a:t> algorithms like KNN,SVM,DT,RF.</a:t>
            </a:r>
          </a:p>
          <a:p>
            <a:pPr marL="457200" indent="-457200" algn="l">
              <a:buFont typeface="Wingdings" panose="05000000000000000000" pitchFamily="2" charset="2"/>
              <a:buChar char="Ø"/>
            </a:pPr>
            <a:r>
              <a:rPr lang="en-IN" sz="2800" b="1" dirty="0">
                <a:latin typeface="Times New Roman" panose="02020603050405020304" pitchFamily="18" charset="0"/>
                <a:cs typeface="Times New Roman" panose="02020603050405020304" pitchFamily="18" charset="0"/>
              </a:rPr>
              <a:t>Training/</a:t>
            </a:r>
            <a:r>
              <a:rPr lang="en-IN" sz="2800" b="1" dirty="0" err="1">
                <a:latin typeface="Times New Roman" panose="02020603050405020304" pitchFamily="18" charset="0"/>
                <a:cs typeface="Times New Roman" panose="02020603050405020304" pitchFamily="18" charset="0"/>
              </a:rPr>
              <a:t>Testing:</a:t>
            </a:r>
            <a:r>
              <a:rPr lang="en-IN" sz="2800" dirty="0" err="1">
                <a:latin typeface="Times New Roman" panose="02020603050405020304" pitchFamily="18" charset="0"/>
                <a:cs typeface="Times New Roman" panose="02020603050405020304" pitchFamily="18" charset="0"/>
              </a:rPr>
              <a:t>Train</a:t>
            </a:r>
            <a:r>
              <a:rPr lang="en-IN" sz="2800" dirty="0">
                <a:latin typeface="Times New Roman" panose="02020603050405020304" pitchFamily="18" charset="0"/>
                <a:cs typeface="Times New Roman" panose="02020603050405020304" pitchFamily="18" charset="0"/>
              </a:rPr>
              <a:t> the models and test their accuracy. </a:t>
            </a:r>
          </a:p>
          <a:p>
            <a:pPr marL="457200" indent="-457200" algn="l">
              <a:buFont typeface="Wingdings" panose="05000000000000000000" pitchFamily="2" charset="2"/>
              <a:buChar char="Ø"/>
            </a:pPr>
            <a:r>
              <a:rPr lang="en-IN" sz="2800" b="1" dirty="0" err="1">
                <a:latin typeface="Times New Roman" panose="02020603050405020304" pitchFamily="18" charset="0"/>
                <a:cs typeface="Times New Roman" panose="02020603050405020304" pitchFamily="18" charset="0"/>
              </a:rPr>
              <a:t>Evaluation:</a:t>
            </a:r>
            <a:r>
              <a:rPr lang="en-IN" sz="2800" dirty="0" err="1">
                <a:latin typeface="Times New Roman" panose="02020603050405020304" pitchFamily="18" charset="0"/>
                <a:cs typeface="Times New Roman" panose="02020603050405020304" pitchFamily="18" charset="0"/>
              </a:rPr>
              <a:t>Measure</a:t>
            </a:r>
            <a:r>
              <a:rPr lang="en-IN" sz="2800" dirty="0">
                <a:latin typeface="Times New Roman" panose="02020603050405020304" pitchFamily="18" charset="0"/>
                <a:cs typeface="Times New Roman" panose="02020603050405020304" pitchFamily="18" charset="0"/>
              </a:rPr>
              <a:t> performance using metrics like </a:t>
            </a:r>
            <a:r>
              <a:rPr lang="en-IN" sz="2800" dirty="0" err="1">
                <a:latin typeface="Times New Roman" panose="02020603050405020304" pitchFamily="18" charset="0"/>
                <a:cs typeface="Times New Roman" panose="02020603050405020304" pitchFamily="18" charset="0"/>
              </a:rPr>
              <a:t>accuracy,etc</a:t>
            </a:r>
            <a:r>
              <a:rPr lang="en-IN" sz="2800" dirty="0">
                <a:latin typeface="Times New Roman" panose="02020603050405020304" pitchFamily="18" charset="0"/>
                <a:cs typeface="Times New Roman" panose="02020603050405020304" pitchFamily="18" charset="0"/>
              </a:rPr>
              <a:t>..</a:t>
            </a:r>
          </a:p>
          <a:p>
            <a:pPr marL="457200" indent="-457200" algn="l">
              <a:buFont typeface="Wingdings" panose="05000000000000000000" pitchFamily="2" charset="2"/>
              <a:buChar char="Ø"/>
            </a:pPr>
            <a:r>
              <a:rPr lang="en-IN" sz="2800" b="1" dirty="0" err="1">
                <a:latin typeface="Times New Roman" panose="02020603050405020304" pitchFamily="18" charset="0"/>
                <a:cs typeface="Times New Roman" panose="02020603050405020304" pitchFamily="18" charset="0"/>
              </a:rPr>
              <a:t>Classification:</a:t>
            </a:r>
            <a:r>
              <a:rPr lang="en-IN" sz="2800" dirty="0" err="1">
                <a:latin typeface="Times New Roman" panose="02020603050405020304" pitchFamily="18" charset="0"/>
                <a:cs typeface="Times New Roman" panose="02020603050405020304" pitchFamily="18" charset="0"/>
              </a:rPr>
              <a:t>Use</a:t>
            </a:r>
            <a:r>
              <a:rPr lang="en-IN" sz="2800" dirty="0">
                <a:latin typeface="Times New Roman" panose="02020603050405020304" pitchFamily="18" charset="0"/>
                <a:cs typeface="Times New Roman" panose="02020603050405020304" pitchFamily="18" charset="0"/>
              </a:rPr>
              <a:t> the best model to classify different sleep stages.</a:t>
            </a:r>
          </a:p>
          <a:p>
            <a:pPr algn="l"/>
            <a:r>
              <a:rPr lang="en-IN" sz="2800" dirty="0">
                <a:latin typeface="Times New Roman" panose="02020603050405020304" pitchFamily="18" charset="0"/>
                <a:cs typeface="Times New Roman" panose="02020603050405020304" pitchFamily="18" charset="0"/>
              </a:rPr>
              <a:t>                                            </a:t>
            </a:r>
          </a:p>
          <a:p>
            <a:pPr algn="l"/>
            <a:r>
              <a:rPr lang="en-IN" sz="28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2530995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8DEC30-A958-56BC-F006-05FBA08D13C6}"/>
              </a:ext>
            </a:extLst>
          </p:cNvPr>
          <p:cNvSpPr>
            <a:spLocks noGrp="1"/>
          </p:cNvSpPr>
          <p:nvPr>
            <p:ph type="title"/>
          </p:nvPr>
        </p:nvSpPr>
        <p:spPr>
          <a:xfrm>
            <a:off x="597534" y="1026096"/>
            <a:ext cx="10996930" cy="492443"/>
          </a:xfrm>
        </p:spPr>
        <p:txBody>
          <a:bodyPr/>
          <a:lstStyle/>
          <a:p>
            <a:r>
              <a:rPr lang="en-US" sz="3200" b="1" dirty="0">
                <a:latin typeface="Times New Roman" panose="02020603050405020304" pitchFamily="18" charset="0"/>
                <a:cs typeface="Times New Roman" panose="02020603050405020304" pitchFamily="18" charset="0"/>
              </a:rPr>
              <a:t>                                       MODULES</a:t>
            </a:r>
          </a:p>
        </p:txBody>
      </p:sp>
      <p:sp>
        <p:nvSpPr>
          <p:cNvPr id="3" name="Text Placeholder 2">
            <a:extLst>
              <a:ext uri="{FF2B5EF4-FFF2-40B4-BE49-F238E27FC236}">
                <a16:creationId xmlns:a16="http://schemas.microsoft.com/office/drawing/2014/main" id="{90F58F37-64A3-A9B0-3AFD-D58C997057BB}"/>
              </a:ext>
            </a:extLst>
          </p:cNvPr>
          <p:cNvSpPr>
            <a:spLocks noGrp="1"/>
          </p:cNvSpPr>
          <p:nvPr>
            <p:ph type="body" idx="1"/>
          </p:nvPr>
        </p:nvSpPr>
        <p:spPr>
          <a:xfrm>
            <a:off x="1143000" y="2362200"/>
            <a:ext cx="7622540" cy="3631763"/>
          </a:xfrm>
        </p:spPr>
        <p:txBody>
          <a:bodyPr/>
          <a:lstStyle/>
          <a:p>
            <a:pPr marL="457200" indent="-4572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Data Collection</a:t>
            </a:r>
          </a:p>
          <a:p>
            <a:pPr marL="457200" indent="-4572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Feature Selection </a:t>
            </a:r>
          </a:p>
          <a:p>
            <a:pPr marL="457200" indent="-4572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Machine Learning Model</a:t>
            </a:r>
            <a:endParaRPr lang="en-US" sz="2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Classification</a:t>
            </a:r>
          </a:p>
          <a:p>
            <a:pPr marL="457200" indent="-4572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Data Preprocessing</a:t>
            </a:r>
          </a:p>
          <a:p>
            <a:pPr marL="457200" indent="-457200">
              <a:buFont typeface="Wingdings" panose="05000000000000000000" pitchFamily="2" charset="2"/>
              <a:buChar char="Ø"/>
            </a:pPr>
            <a:endParaRPr lang="en-US" sz="3200" dirty="0"/>
          </a:p>
          <a:p>
            <a:pPr marL="457200" indent="-457200">
              <a:buFont typeface="Wingdings" panose="05000000000000000000" pitchFamily="2" charset="2"/>
              <a:buChar char="Ø"/>
            </a:pPr>
            <a:endParaRPr lang="en-US" sz="3200" dirty="0"/>
          </a:p>
          <a:p>
            <a:pPr marL="457200" indent="-457200">
              <a:buFont typeface="Wingdings" panose="05000000000000000000" pitchFamily="2" charset="2"/>
              <a:buChar char="Ø"/>
            </a:pPr>
            <a:endParaRPr lang="en-US" sz="3200" dirty="0"/>
          </a:p>
        </p:txBody>
      </p:sp>
    </p:spTree>
    <p:extLst>
      <p:ext uri="{BB962C8B-B14F-4D97-AF65-F5344CB8AC3E}">
        <p14:creationId xmlns:p14="http://schemas.microsoft.com/office/powerpoint/2010/main" val="30683798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96341B-CE8E-CA8F-D76F-1BAD15DB59F6}"/>
              </a:ext>
            </a:extLst>
          </p:cNvPr>
          <p:cNvSpPr>
            <a:spLocks noGrp="1"/>
          </p:cNvSpPr>
          <p:nvPr>
            <p:ph type="ctrTitle"/>
          </p:nvPr>
        </p:nvSpPr>
        <p:spPr>
          <a:xfrm>
            <a:off x="914400" y="914400"/>
            <a:ext cx="10363200" cy="492443"/>
          </a:xfrm>
        </p:spPr>
        <p:txBody>
          <a:bodyPr/>
          <a:lstStyle/>
          <a:p>
            <a:r>
              <a:rPr lang="en-US" sz="3200" dirty="0">
                <a:latin typeface="Constantia" panose="02030602050306030303" pitchFamily="18" charset="0"/>
              </a:rPr>
              <a:t>                        </a:t>
            </a:r>
            <a:r>
              <a:rPr lang="en-US" sz="3200" b="1" dirty="0">
                <a:latin typeface="Constantia" panose="02030602050306030303" pitchFamily="18" charset="0"/>
              </a:rPr>
              <a:t>DATA COLLECTION         </a:t>
            </a:r>
          </a:p>
        </p:txBody>
      </p:sp>
      <p:sp>
        <p:nvSpPr>
          <p:cNvPr id="3" name="Subtitle 2">
            <a:extLst>
              <a:ext uri="{FF2B5EF4-FFF2-40B4-BE49-F238E27FC236}">
                <a16:creationId xmlns:a16="http://schemas.microsoft.com/office/drawing/2014/main" id="{19A47DBD-A657-1693-55D8-274A71E1730D}"/>
              </a:ext>
            </a:extLst>
          </p:cNvPr>
          <p:cNvSpPr>
            <a:spLocks noGrp="1"/>
          </p:cNvSpPr>
          <p:nvPr>
            <p:ph type="subTitle" idx="4"/>
          </p:nvPr>
        </p:nvSpPr>
        <p:spPr>
          <a:xfrm>
            <a:off x="1447800" y="2057400"/>
            <a:ext cx="9144000" cy="2813923"/>
          </a:xfrm>
        </p:spPr>
        <p:txBody>
          <a:bodyPr/>
          <a:lstStyle/>
          <a:p>
            <a:pPr marL="457200" indent="-4572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This modules collects sleep data using polysomnography(PSG).</a:t>
            </a:r>
          </a:p>
          <a:p>
            <a:pPr marL="457200" indent="-4572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Use public datasets from sleep labs.</a:t>
            </a:r>
          </a:p>
          <a:p>
            <a:pPr marL="457200" indent="-4572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Gathering sleep related data from patients.</a:t>
            </a:r>
          </a:p>
          <a:p>
            <a:pPr marL="457200" indent="-4572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 Data includes age, gender, sleep duration, BMI, stress level, occupation, and sleep disorder label.</a:t>
            </a:r>
          </a:p>
        </p:txBody>
      </p:sp>
    </p:spTree>
    <p:extLst>
      <p:ext uri="{BB962C8B-B14F-4D97-AF65-F5344CB8AC3E}">
        <p14:creationId xmlns:p14="http://schemas.microsoft.com/office/powerpoint/2010/main" val="2843211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F88DA-BB05-D778-7208-BF76417BB4B3}"/>
              </a:ext>
            </a:extLst>
          </p:cNvPr>
          <p:cNvSpPr>
            <a:spLocks noGrp="1"/>
          </p:cNvSpPr>
          <p:nvPr>
            <p:ph type="ctrTitle"/>
          </p:nvPr>
        </p:nvSpPr>
        <p:spPr>
          <a:xfrm>
            <a:off x="1143000" y="1524000"/>
            <a:ext cx="10363200" cy="769441"/>
          </a:xfrm>
        </p:spPr>
        <p:txBody>
          <a:bodyPr/>
          <a:lstStyle/>
          <a:p>
            <a:r>
              <a:rPr lang="en-US" b="1" dirty="0"/>
              <a:t>               </a:t>
            </a:r>
            <a:r>
              <a:rPr lang="en-US" sz="3200" b="1" dirty="0">
                <a:latin typeface="Times New Roman" panose="02020603050405020304" pitchFamily="18" charset="0"/>
                <a:cs typeface="Times New Roman" panose="02020603050405020304" pitchFamily="18" charset="0"/>
              </a:rPr>
              <a:t>FEATURE SELECTION</a:t>
            </a:r>
          </a:p>
        </p:txBody>
      </p:sp>
      <p:sp>
        <p:nvSpPr>
          <p:cNvPr id="3" name="Subtitle 2">
            <a:extLst>
              <a:ext uri="{FF2B5EF4-FFF2-40B4-BE49-F238E27FC236}">
                <a16:creationId xmlns:a16="http://schemas.microsoft.com/office/drawing/2014/main" id="{F377A068-D742-D202-4470-E2F16B6BBEB5}"/>
              </a:ext>
            </a:extLst>
          </p:cNvPr>
          <p:cNvSpPr>
            <a:spLocks noGrp="1"/>
          </p:cNvSpPr>
          <p:nvPr>
            <p:ph type="subTitle" idx="4"/>
          </p:nvPr>
        </p:nvSpPr>
        <p:spPr>
          <a:xfrm>
            <a:off x="1828800" y="2971800"/>
            <a:ext cx="9448800" cy="1799749"/>
          </a:xfrm>
        </p:spPr>
        <p:txBody>
          <a:bodyPr/>
          <a:lstStyle/>
          <a:p>
            <a:pPr marL="457200" indent="-4572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Deriving  meaningful features such as sleep stages time intervals .</a:t>
            </a:r>
          </a:p>
          <a:p>
            <a:pPr marL="457200" indent="-4572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Reduce dimensionality for better performance.</a:t>
            </a:r>
          </a:p>
          <a:p>
            <a:pPr marL="457200" indent="-4572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Select most relevant features for classification.</a:t>
            </a:r>
          </a:p>
        </p:txBody>
      </p:sp>
    </p:spTree>
    <p:extLst>
      <p:ext uri="{BB962C8B-B14F-4D97-AF65-F5344CB8AC3E}">
        <p14:creationId xmlns:p14="http://schemas.microsoft.com/office/powerpoint/2010/main" val="37371223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011F0-A98A-ED3B-88E3-A7985FCFF479}"/>
              </a:ext>
            </a:extLst>
          </p:cNvPr>
          <p:cNvSpPr>
            <a:spLocks noGrp="1"/>
          </p:cNvSpPr>
          <p:nvPr>
            <p:ph type="ctrTitle"/>
          </p:nvPr>
        </p:nvSpPr>
        <p:spPr>
          <a:xfrm>
            <a:off x="914400" y="1066801"/>
            <a:ext cx="10363200" cy="492443"/>
          </a:xfrm>
        </p:spPr>
        <p:txBody>
          <a:bodyPr/>
          <a:lstStyle/>
          <a:p>
            <a:r>
              <a:rPr lang="en-US" sz="3200" dirty="0">
                <a:latin typeface="Times New Roman" panose="02020603050405020304" pitchFamily="18" charset="0"/>
                <a:cs typeface="Times New Roman" panose="02020603050405020304" pitchFamily="18" charset="0"/>
              </a:rPr>
              <a:t>                </a:t>
            </a:r>
            <a:r>
              <a:rPr lang="en-US" sz="3200" b="1" dirty="0">
                <a:latin typeface="Times New Roman" panose="02020603050405020304" pitchFamily="18" charset="0"/>
                <a:cs typeface="Times New Roman" panose="02020603050405020304" pitchFamily="18" charset="0"/>
              </a:rPr>
              <a:t>MACHINE LEARNING MODEL</a:t>
            </a:r>
          </a:p>
        </p:txBody>
      </p:sp>
      <p:sp>
        <p:nvSpPr>
          <p:cNvPr id="3" name="Subtitle 2">
            <a:extLst>
              <a:ext uri="{FF2B5EF4-FFF2-40B4-BE49-F238E27FC236}">
                <a16:creationId xmlns:a16="http://schemas.microsoft.com/office/drawing/2014/main" id="{C1C8A2CF-5C12-0764-4D51-B2E0917DE750}"/>
              </a:ext>
            </a:extLst>
          </p:cNvPr>
          <p:cNvSpPr>
            <a:spLocks noGrp="1"/>
          </p:cNvSpPr>
          <p:nvPr>
            <p:ph type="subTitle" idx="4"/>
          </p:nvPr>
        </p:nvSpPr>
        <p:spPr>
          <a:xfrm>
            <a:off x="1828800" y="2209800"/>
            <a:ext cx="8534400" cy="2444591"/>
          </a:xfrm>
        </p:spPr>
        <p:txBody>
          <a:bodyPr/>
          <a:lstStyle/>
          <a:p>
            <a:pPr marL="457200" indent="-4572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Applies algorithms such as </a:t>
            </a:r>
            <a:r>
              <a:rPr lang="en-US" sz="2800" dirty="0" err="1">
                <a:latin typeface="Times New Roman" panose="02020603050405020304" pitchFamily="18" charset="0"/>
                <a:cs typeface="Times New Roman" panose="02020603050405020304" pitchFamily="18" charset="0"/>
              </a:rPr>
              <a:t>SVM,Decision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Trees,Random</a:t>
            </a:r>
            <a:r>
              <a:rPr lang="en-US" sz="2800" dirty="0">
                <a:latin typeface="Times New Roman" panose="02020603050405020304" pitchFamily="18" charset="0"/>
                <a:cs typeface="Times New Roman" panose="02020603050405020304" pitchFamily="18" charset="0"/>
              </a:rPr>
              <a:t> Forest ,K-NN ,and Naïve Bayes to classify sleep disorders.</a:t>
            </a:r>
          </a:p>
          <a:p>
            <a:pPr marL="457200" indent="-4572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It includes model training ,testing, performance evaluation.</a:t>
            </a:r>
          </a:p>
        </p:txBody>
      </p:sp>
    </p:spTree>
    <p:extLst>
      <p:ext uri="{BB962C8B-B14F-4D97-AF65-F5344CB8AC3E}">
        <p14:creationId xmlns:p14="http://schemas.microsoft.com/office/powerpoint/2010/main" val="4978266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D390B-2D42-2CF0-758A-F1CD589C065A}"/>
              </a:ext>
            </a:extLst>
          </p:cNvPr>
          <p:cNvSpPr>
            <a:spLocks noGrp="1"/>
          </p:cNvSpPr>
          <p:nvPr>
            <p:ph type="ctrTitle"/>
          </p:nvPr>
        </p:nvSpPr>
        <p:spPr>
          <a:xfrm>
            <a:off x="914400" y="1143000"/>
            <a:ext cx="10363200" cy="677108"/>
          </a:xfrm>
        </p:spPr>
        <p:txBody>
          <a:bodyPr/>
          <a:lstStyle/>
          <a:p>
            <a:r>
              <a:rPr lang="en-US" sz="4400" dirty="0">
                <a:latin typeface="Constantia" panose="02030602050306030303" pitchFamily="18" charset="0"/>
              </a:rPr>
              <a:t>                </a:t>
            </a:r>
            <a:r>
              <a:rPr lang="en-US" sz="3200" b="1" dirty="0">
                <a:latin typeface="Times New Roman" panose="02020603050405020304" pitchFamily="18" charset="0"/>
                <a:cs typeface="Times New Roman" panose="02020603050405020304" pitchFamily="18" charset="0"/>
              </a:rPr>
              <a:t>CLASSIFICATION</a:t>
            </a:r>
          </a:p>
        </p:txBody>
      </p:sp>
      <p:sp>
        <p:nvSpPr>
          <p:cNvPr id="3" name="Subtitle 2">
            <a:extLst>
              <a:ext uri="{FF2B5EF4-FFF2-40B4-BE49-F238E27FC236}">
                <a16:creationId xmlns:a16="http://schemas.microsoft.com/office/drawing/2014/main" id="{5972532B-7B80-68BF-3334-347452592634}"/>
              </a:ext>
            </a:extLst>
          </p:cNvPr>
          <p:cNvSpPr>
            <a:spLocks noGrp="1"/>
          </p:cNvSpPr>
          <p:nvPr>
            <p:ph type="subTitle" idx="4"/>
          </p:nvPr>
        </p:nvSpPr>
        <p:spPr>
          <a:xfrm>
            <a:off x="1828800" y="2286000"/>
            <a:ext cx="8534400" cy="3737253"/>
          </a:xfrm>
        </p:spPr>
        <p:txBody>
          <a:bodyPr/>
          <a:lstStyle/>
          <a:p>
            <a:pPr marL="457200" indent="-4572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Apply machine learning models that classify sleep disorders</a:t>
            </a:r>
          </a:p>
          <a:p>
            <a:pPr marL="457200" indent="-4572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It predicting the type of disorder like:</a:t>
            </a:r>
          </a:p>
          <a:p>
            <a:r>
              <a:rPr lang="en-US" sz="2800" dirty="0">
                <a:latin typeface="Times New Roman" panose="02020603050405020304" pitchFamily="18" charset="0"/>
                <a:cs typeface="Times New Roman" panose="02020603050405020304" pitchFamily="18" charset="0"/>
              </a:rPr>
              <a:t>       Insomnia</a:t>
            </a:r>
          </a:p>
          <a:p>
            <a:r>
              <a:rPr lang="en-US" sz="2800" dirty="0">
                <a:latin typeface="Times New Roman" panose="02020603050405020304" pitchFamily="18" charset="0"/>
                <a:cs typeface="Times New Roman" panose="02020603050405020304" pitchFamily="18" charset="0"/>
              </a:rPr>
              <a:t>       Sleep apnea</a:t>
            </a:r>
          </a:p>
          <a:p>
            <a:r>
              <a:rPr lang="en-US" sz="2800" dirty="0">
                <a:latin typeface="Times New Roman" panose="02020603050405020304" pitchFamily="18" charset="0"/>
                <a:cs typeface="Times New Roman" panose="02020603050405020304" pitchFamily="18" charset="0"/>
              </a:rPr>
              <a:t>       None</a:t>
            </a:r>
          </a:p>
          <a:p>
            <a:r>
              <a:rPr lang="en-US" sz="2800" dirty="0">
                <a:latin typeface="Times New Roman" panose="02020603050405020304" pitchFamily="18" charset="0"/>
                <a:cs typeface="Times New Roman" panose="02020603050405020304" pitchFamily="18" charset="0"/>
              </a:rPr>
              <a:t>       </a:t>
            </a:r>
          </a:p>
          <a:p>
            <a:pPr marL="457200" indent="-457200">
              <a:buFont typeface="Wingdings" panose="05000000000000000000" pitchFamily="2" charset="2"/>
              <a:buChar char="Ø"/>
            </a:pPr>
            <a:endParaRPr lang="en-US" sz="3200" dirty="0"/>
          </a:p>
        </p:txBody>
      </p:sp>
    </p:spTree>
    <p:extLst>
      <p:ext uri="{BB962C8B-B14F-4D97-AF65-F5344CB8AC3E}">
        <p14:creationId xmlns:p14="http://schemas.microsoft.com/office/powerpoint/2010/main" val="30544206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9331F6-0E14-AFF2-B59F-7ABC06119FA8}"/>
              </a:ext>
            </a:extLst>
          </p:cNvPr>
          <p:cNvSpPr>
            <a:spLocks noGrp="1"/>
          </p:cNvSpPr>
          <p:nvPr>
            <p:ph type="ctrTitle"/>
          </p:nvPr>
        </p:nvSpPr>
        <p:spPr>
          <a:xfrm>
            <a:off x="914400" y="990600"/>
            <a:ext cx="10363200" cy="492443"/>
          </a:xfrm>
        </p:spPr>
        <p:txBody>
          <a:bodyPr/>
          <a:lstStyle/>
          <a:p>
            <a:r>
              <a:rPr lang="en-US" sz="3200" b="1" dirty="0">
                <a:latin typeface="Times New Roman" panose="02020603050405020304" pitchFamily="18" charset="0"/>
                <a:cs typeface="Times New Roman" panose="02020603050405020304" pitchFamily="18" charset="0"/>
              </a:rPr>
              <a:t>                     DATA  PREPROCESSING</a:t>
            </a:r>
          </a:p>
        </p:txBody>
      </p:sp>
      <p:sp>
        <p:nvSpPr>
          <p:cNvPr id="3" name="Subtitle 2">
            <a:extLst>
              <a:ext uri="{FF2B5EF4-FFF2-40B4-BE49-F238E27FC236}">
                <a16:creationId xmlns:a16="http://schemas.microsoft.com/office/drawing/2014/main" id="{497DD769-2991-1E60-8F33-B67E77DA6C52}"/>
              </a:ext>
            </a:extLst>
          </p:cNvPr>
          <p:cNvSpPr>
            <a:spLocks noGrp="1"/>
          </p:cNvSpPr>
          <p:nvPr>
            <p:ph type="subTitle" idx="4"/>
          </p:nvPr>
        </p:nvSpPr>
        <p:spPr>
          <a:xfrm>
            <a:off x="1828800" y="2209800"/>
            <a:ext cx="8534400" cy="2687658"/>
          </a:xfrm>
        </p:spPr>
        <p:txBody>
          <a:bodyPr/>
          <a:lstStyle/>
          <a:p>
            <a:pPr marL="457200" indent="-4572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Cleaning and normalizing data to remove noise and  handle missing values.</a:t>
            </a:r>
          </a:p>
          <a:p>
            <a:pPr marL="457200" indent="-4572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Select significant features for model input.</a:t>
            </a:r>
          </a:p>
          <a:p>
            <a:pPr marL="457200" indent="-4572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Preprocessing ensures data quality and consistency for the next stages.</a:t>
            </a:r>
          </a:p>
        </p:txBody>
      </p:sp>
    </p:spTree>
    <p:extLst>
      <p:ext uri="{BB962C8B-B14F-4D97-AF65-F5344CB8AC3E}">
        <p14:creationId xmlns:p14="http://schemas.microsoft.com/office/powerpoint/2010/main" val="20028487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33327-5B4F-29C8-3974-7ADB67CA3C8F}"/>
              </a:ext>
            </a:extLst>
          </p:cNvPr>
          <p:cNvSpPr>
            <a:spLocks noGrp="1"/>
          </p:cNvSpPr>
          <p:nvPr>
            <p:ph type="ctrTitle"/>
          </p:nvPr>
        </p:nvSpPr>
        <p:spPr>
          <a:xfrm>
            <a:off x="914400" y="609600"/>
            <a:ext cx="10363200" cy="1169551"/>
          </a:xfrm>
        </p:spPr>
        <p:txBody>
          <a:bodyPr/>
          <a:lstStyle/>
          <a:p>
            <a:r>
              <a:rPr lang="en-US" sz="4400" dirty="0">
                <a:latin typeface="Times New Roman" panose="02020603050405020304" pitchFamily="18" charset="0"/>
                <a:cs typeface="Times New Roman" panose="02020603050405020304" pitchFamily="18" charset="0"/>
              </a:rPr>
              <a:t>                       </a:t>
            </a:r>
            <a:r>
              <a:rPr lang="en-US" sz="3200" b="1" dirty="0">
                <a:latin typeface="Times New Roman" panose="02020603050405020304" pitchFamily="18" charset="0"/>
                <a:cs typeface="Times New Roman" panose="02020603050405020304" pitchFamily="18" charset="0"/>
              </a:rPr>
              <a:t>ALGORITHMS</a:t>
            </a:r>
            <a:br>
              <a:rPr lang="en-US" sz="3200" b="1" dirty="0">
                <a:latin typeface="Times New Roman" panose="02020603050405020304" pitchFamily="18" charset="0"/>
                <a:cs typeface="Times New Roman" panose="02020603050405020304" pitchFamily="18" charset="0"/>
              </a:rPr>
            </a:br>
            <a:endParaRPr lang="en-US" sz="32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DD0FB09E-A421-0435-5FBC-6B4EA2380740}"/>
              </a:ext>
            </a:extLst>
          </p:cNvPr>
          <p:cNvSpPr>
            <a:spLocks noGrp="1"/>
          </p:cNvSpPr>
          <p:nvPr>
            <p:ph type="subTitle" idx="4"/>
          </p:nvPr>
        </p:nvSpPr>
        <p:spPr>
          <a:xfrm>
            <a:off x="152400" y="1371600"/>
            <a:ext cx="11506200" cy="7140416"/>
          </a:xfrm>
        </p:spPr>
        <p:txBody>
          <a:bodyPr/>
          <a:lstStyle/>
          <a:p>
            <a:pPr algn="just"/>
            <a:r>
              <a:rPr lang="en-US" sz="2800" b="1" dirty="0">
                <a:latin typeface="Times New Roman" panose="02020603050405020304" pitchFamily="18" charset="0"/>
                <a:cs typeface="Times New Roman" panose="02020603050405020304" pitchFamily="18" charset="0"/>
              </a:rPr>
              <a:t> Support Vector Machine:</a:t>
            </a:r>
          </a:p>
          <a:p>
            <a:pPr marL="457200" indent="-457200" algn="just">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Classify types of sleep disorders It performs well with small data sets.</a:t>
            </a:r>
          </a:p>
          <a:p>
            <a:pPr marL="457200" indent="-457200" algn="just">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Helps classify sleep disorder types based on precise boundaries in the dataset.</a:t>
            </a:r>
          </a:p>
          <a:p>
            <a:pPr marL="457200" indent="-457200" algn="just">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Works effectively for binary and multi-class classification problems.</a:t>
            </a:r>
          </a:p>
          <a:p>
            <a:pPr algn="just"/>
            <a:r>
              <a:rPr lang="en-US" sz="2800" b="1" dirty="0">
                <a:latin typeface="Times New Roman" panose="02020603050405020304" pitchFamily="18" charset="0"/>
                <a:cs typeface="Times New Roman" panose="02020603050405020304" pitchFamily="18" charset="0"/>
              </a:rPr>
              <a:t> Decision Tree:</a:t>
            </a:r>
          </a:p>
          <a:p>
            <a:pPr marL="457200" indent="-457200" algn="just">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Builds a tree of decisions based on data features.</a:t>
            </a:r>
          </a:p>
          <a:p>
            <a:pPr marL="457200" indent="-457200" algn="just">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It helps to identify decision points for sleep disorder</a:t>
            </a:r>
          </a:p>
          <a:p>
            <a:pPr algn="just"/>
            <a:r>
              <a:rPr lang="en-US" sz="2800" dirty="0">
                <a:latin typeface="Times New Roman" panose="02020603050405020304" pitchFamily="18" charset="0"/>
                <a:cs typeface="Times New Roman" panose="02020603050405020304" pitchFamily="18" charset="0"/>
              </a:rPr>
              <a:t>     classification.</a:t>
            </a:r>
          </a:p>
          <a:p>
            <a:pPr marL="457200" indent="-457200" algn="just">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It splits the data based on feature values forming a tree </a:t>
            </a:r>
          </a:p>
          <a:p>
            <a:pPr algn="just"/>
            <a:r>
              <a:rPr lang="en-US" sz="2800" dirty="0">
                <a:latin typeface="Times New Roman" panose="02020603050405020304" pitchFamily="18" charset="0"/>
                <a:cs typeface="Times New Roman" panose="02020603050405020304" pitchFamily="18" charset="0"/>
              </a:rPr>
              <a:t>     structure</a:t>
            </a:r>
          </a:p>
          <a:p>
            <a:pPr algn="just"/>
            <a:endParaRPr lang="en-US" sz="2800" b="1" dirty="0">
              <a:latin typeface="Times New Roman" panose="02020603050405020304" pitchFamily="18" charset="0"/>
              <a:cs typeface="Times New Roman" panose="02020603050405020304" pitchFamily="18" charset="0"/>
            </a:endParaRPr>
          </a:p>
          <a:p>
            <a:pPr algn="just"/>
            <a:endParaRPr lang="en-US" sz="2800" dirty="0">
              <a:latin typeface="Times New Roman" panose="02020603050405020304" pitchFamily="18" charset="0"/>
              <a:cs typeface="Times New Roman" panose="02020603050405020304" pitchFamily="18" charset="0"/>
            </a:endParaRPr>
          </a:p>
          <a:p>
            <a:pPr algn="just"/>
            <a:endParaRPr lang="en-US" sz="3200" dirty="0"/>
          </a:p>
          <a:p>
            <a:pPr marL="457200" indent="-457200" algn="just">
              <a:buFont typeface="Wingdings" panose="05000000000000000000" pitchFamily="2" charset="2"/>
              <a:buChar char="Ø"/>
            </a:pPr>
            <a:endParaRPr lang="en-US" sz="3200" dirty="0"/>
          </a:p>
          <a:p>
            <a:pPr marL="457200" indent="-457200" algn="just">
              <a:buFont typeface="Wingdings" panose="05000000000000000000" pitchFamily="2" charset="2"/>
              <a:buChar char="Ø"/>
            </a:pPr>
            <a:endParaRPr lang="en-US" sz="3200" dirty="0"/>
          </a:p>
          <a:p>
            <a:pPr algn="just"/>
            <a:r>
              <a:rPr lang="en-US" sz="3200" dirty="0"/>
              <a:t> </a:t>
            </a:r>
          </a:p>
        </p:txBody>
      </p:sp>
    </p:spTree>
    <p:extLst>
      <p:ext uri="{BB962C8B-B14F-4D97-AF65-F5344CB8AC3E}">
        <p14:creationId xmlns:p14="http://schemas.microsoft.com/office/powerpoint/2010/main" val="13855951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C0D02C8-9790-FF3D-B8C9-14691D766B93}"/>
              </a:ext>
            </a:extLst>
          </p:cNvPr>
          <p:cNvSpPr>
            <a:spLocks noGrp="1"/>
          </p:cNvSpPr>
          <p:nvPr>
            <p:ph type="body" idx="1"/>
          </p:nvPr>
        </p:nvSpPr>
        <p:spPr>
          <a:xfrm>
            <a:off x="952500" y="1143000"/>
            <a:ext cx="10782300" cy="5170646"/>
          </a:xfrm>
        </p:spPr>
        <p:txBody>
          <a:bodyPr/>
          <a:lstStyle/>
          <a:p>
            <a:r>
              <a:rPr lang="en-US" sz="2800" b="1" dirty="0">
                <a:latin typeface="Times New Roman" panose="02020603050405020304" pitchFamily="18" charset="0"/>
                <a:cs typeface="Times New Roman" panose="02020603050405020304" pitchFamily="18" charset="0"/>
              </a:rPr>
              <a:t>     Random Forest: </a:t>
            </a:r>
          </a:p>
          <a:p>
            <a:pPr marL="457200" indent="-4572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Builds many trees and combines their results for better accuracy.</a:t>
            </a:r>
          </a:p>
          <a:p>
            <a:pPr marL="457200" indent="-4572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In this project, improves the robustness of disorder classification.</a:t>
            </a:r>
          </a:p>
          <a:p>
            <a:pPr marL="457200" indent="-4572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Combines the output of all trees  to make final prediction.</a:t>
            </a:r>
          </a:p>
          <a:p>
            <a:r>
              <a:rPr lang="en-US" sz="2800" b="1" dirty="0">
                <a:latin typeface="Times New Roman" panose="02020603050405020304" pitchFamily="18" charset="0"/>
                <a:cs typeface="Times New Roman" panose="02020603050405020304" pitchFamily="18" charset="0"/>
              </a:rPr>
              <a:t>     K-Nearest Neighbors (KNN):</a:t>
            </a:r>
          </a:p>
          <a:p>
            <a:pPr marL="457200" indent="-4572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A simple, instance-based learning algorithm.</a:t>
            </a:r>
          </a:p>
          <a:p>
            <a:pPr marL="457200" indent="-4572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Classifies a new data point based on the majority class of its k-nearest neighbors.</a:t>
            </a:r>
          </a:p>
          <a:p>
            <a:pPr marL="457200" indent="-4572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Useful for small datasets with clearly separated classes.</a:t>
            </a:r>
          </a:p>
          <a:p>
            <a:pPr marL="457200" indent="-4572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Distance-based — typically uses Euclidean distance.</a:t>
            </a:r>
          </a:p>
          <a:p>
            <a:pPr marL="457200" indent="-4572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In this project: classifies a person’s sleep disorder based on similarity to others.</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664975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46D30-E710-65C4-36DB-CEB752F131E3}"/>
              </a:ext>
            </a:extLst>
          </p:cNvPr>
          <p:cNvSpPr>
            <a:spLocks noGrp="1"/>
          </p:cNvSpPr>
          <p:nvPr>
            <p:ph type="ctrTitle"/>
          </p:nvPr>
        </p:nvSpPr>
        <p:spPr>
          <a:xfrm>
            <a:off x="914400" y="609601"/>
            <a:ext cx="10363200" cy="492443"/>
          </a:xfrm>
        </p:spPr>
        <p:txBody>
          <a:bodyPr/>
          <a:lstStyle/>
          <a:p>
            <a:r>
              <a:rPr lang="en-IN" sz="3200" dirty="0"/>
              <a:t>                                  </a:t>
            </a:r>
            <a:r>
              <a:rPr lang="en-IN" sz="3200" b="1" dirty="0">
                <a:latin typeface="Times New Roman" panose="02020603050405020304" pitchFamily="18" charset="0"/>
                <a:cs typeface="Times New Roman" panose="02020603050405020304" pitchFamily="18" charset="0"/>
              </a:rPr>
              <a:t>UML DIAGRAMS</a:t>
            </a:r>
          </a:p>
        </p:txBody>
      </p:sp>
      <p:sp>
        <p:nvSpPr>
          <p:cNvPr id="3" name="Subtitle 2">
            <a:extLst>
              <a:ext uri="{FF2B5EF4-FFF2-40B4-BE49-F238E27FC236}">
                <a16:creationId xmlns:a16="http://schemas.microsoft.com/office/drawing/2014/main" id="{075A82FE-6D6C-08BC-362C-9CD0315E6783}"/>
              </a:ext>
            </a:extLst>
          </p:cNvPr>
          <p:cNvSpPr>
            <a:spLocks noGrp="1"/>
          </p:cNvSpPr>
          <p:nvPr>
            <p:ph type="subTitle" idx="4"/>
          </p:nvPr>
        </p:nvSpPr>
        <p:spPr>
          <a:xfrm>
            <a:off x="9939" y="1102044"/>
            <a:ext cx="11734800" cy="1085908"/>
          </a:xfrm>
        </p:spPr>
        <p:txBody>
          <a:bodyPr/>
          <a:lstStyle/>
          <a:p>
            <a:r>
              <a:rPr lang="en-IN" sz="3200" dirty="0">
                <a:latin typeface="Times New Roman" panose="02020603050405020304" pitchFamily="18" charset="0"/>
                <a:cs typeface="Times New Roman" panose="02020603050405020304" pitchFamily="18" charset="0"/>
              </a:rPr>
              <a:t>    </a:t>
            </a:r>
            <a:r>
              <a:rPr lang="en-IN" sz="3200" b="1" dirty="0">
                <a:latin typeface="Times New Roman" panose="02020603050405020304" pitchFamily="18" charset="0"/>
                <a:cs typeface="Times New Roman" panose="02020603050405020304" pitchFamily="18" charset="0"/>
              </a:rPr>
              <a:t>USECASE DIAGRAM</a:t>
            </a:r>
          </a:p>
          <a:p>
            <a:endParaRPr lang="en-IN" dirty="0"/>
          </a:p>
        </p:txBody>
      </p:sp>
      <p:pic>
        <p:nvPicPr>
          <p:cNvPr id="4" name="Picture 3">
            <a:extLst>
              <a:ext uri="{FF2B5EF4-FFF2-40B4-BE49-F238E27FC236}">
                <a16:creationId xmlns:a16="http://schemas.microsoft.com/office/drawing/2014/main" id="{C8B63366-1B9F-C5AD-B5F8-07CBA8BC35FA}"/>
              </a:ext>
            </a:extLst>
          </p:cNvPr>
          <p:cNvPicPr/>
          <p:nvPr/>
        </p:nvPicPr>
        <p:blipFill>
          <a:blip r:embed="rId2">
            <a:extLst>
              <a:ext uri="{BEBA8EAE-BF5A-486C-A8C5-ECC9F3942E4B}">
                <a14:imgProps xmlns:a14="http://schemas.microsoft.com/office/drawing/2010/main">
                  <a14:imgLayer r:embed="rId3">
                    <a14:imgEffect>
                      <a14:brightnessContrast bright="20000" contrast="-40000"/>
                    </a14:imgEffect>
                  </a14:imgLayer>
                </a14:imgProps>
              </a:ext>
            </a:extLst>
          </a:blip>
          <a:stretch>
            <a:fillRect/>
          </a:stretch>
        </p:blipFill>
        <p:spPr>
          <a:xfrm>
            <a:off x="2209800" y="1828800"/>
            <a:ext cx="7010400" cy="4724400"/>
          </a:xfrm>
          <a:prstGeom prst="rect">
            <a:avLst/>
          </a:prstGeom>
        </p:spPr>
      </p:pic>
    </p:spTree>
    <p:extLst>
      <p:ext uri="{BB962C8B-B14F-4D97-AF65-F5344CB8AC3E}">
        <p14:creationId xmlns:p14="http://schemas.microsoft.com/office/powerpoint/2010/main" val="27156822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2E78BD-855D-109F-3D30-FCF6AB0DB8CB}"/>
              </a:ext>
            </a:extLst>
          </p:cNvPr>
          <p:cNvSpPr>
            <a:spLocks noGrp="1"/>
          </p:cNvSpPr>
          <p:nvPr>
            <p:ph type="title"/>
          </p:nvPr>
        </p:nvSpPr>
        <p:spPr>
          <a:xfrm flipV="1">
            <a:off x="597534" y="-761999"/>
            <a:ext cx="10996930" cy="152400"/>
          </a:xfrm>
        </p:spPr>
        <p:txBody>
          <a:bodyPr/>
          <a:lstStyle/>
          <a:p>
            <a:endParaRPr lang="en-IN" dirty="0"/>
          </a:p>
        </p:txBody>
      </p:sp>
      <p:sp>
        <p:nvSpPr>
          <p:cNvPr id="3" name="Text Placeholder 2">
            <a:extLst>
              <a:ext uri="{FF2B5EF4-FFF2-40B4-BE49-F238E27FC236}">
                <a16:creationId xmlns:a16="http://schemas.microsoft.com/office/drawing/2014/main" id="{20A7093D-6E35-2322-792B-BF8A69F41347}"/>
              </a:ext>
            </a:extLst>
          </p:cNvPr>
          <p:cNvSpPr>
            <a:spLocks noGrp="1"/>
          </p:cNvSpPr>
          <p:nvPr>
            <p:ph type="body" idx="1"/>
          </p:nvPr>
        </p:nvSpPr>
        <p:spPr>
          <a:xfrm>
            <a:off x="566219" y="914400"/>
            <a:ext cx="10868977" cy="492443"/>
          </a:xfrm>
        </p:spPr>
        <p:txBody>
          <a:bodyPr/>
          <a:lstStyle/>
          <a:p>
            <a:pPr algn="l"/>
            <a:r>
              <a:rPr lang="en-IN" sz="3200" b="1" dirty="0">
                <a:latin typeface="Times New Roman" panose="02020603050405020304" pitchFamily="18" charset="0"/>
                <a:cs typeface="Times New Roman" panose="02020603050405020304" pitchFamily="18" charset="0"/>
              </a:rPr>
              <a:t> ACTIVITY DIAGRAM</a:t>
            </a:r>
          </a:p>
        </p:txBody>
      </p:sp>
      <p:pic>
        <p:nvPicPr>
          <p:cNvPr id="4" name="Picture 3">
            <a:extLst>
              <a:ext uri="{FF2B5EF4-FFF2-40B4-BE49-F238E27FC236}">
                <a16:creationId xmlns:a16="http://schemas.microsoft.com/office/drawing/2014/main" id="{1EDB7ED8-61EE-6702-B0E8-B50A69A99F68}"/>
              </a:ext>
            </a:extLst>
          </p:cNvPr>
          <p:cNvPicPr/>
          <p:nvPr/>
        </p:nvPicPr>
        <p:blipFill>
          <a:blip r:embed="rId2"/>
          <a:stretch>
            <a:fillRect/>
          </a:stretch>
        </p:blipFill>
        <p:spPr>
          <a:xfrm>
            <a:off x="2514601" y="1600200"/>
            <a:ext cx="4572000" cy="5257800"/>
          </a:xfrm>
          <a:prstGeom prst="rect">
            <a:avLst/>
          </a:prstGeom>
        </p:spPr>
      </p:pic>
    </p:spTree>
    <p:extLst>
      <p:ext uri="{BB962C8B-B14F-4D97-AF65-F5344CB8AC3E}">
        <p14:creationId xmlns:p14="http://schemas.microsoft.com/office/powerpoint/2010/main" val="31665399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B36191C-1A97-08D6-DC4F-035F73FCA05F}"/>
              </a:ext>
            </a:extLst>
          </p:cNvPr>
          <p:cNvSpPr>
            <a:spLocks noGrp="1"/>
          </p:cNvSpPr>
          <p:nvPr>
            <p:ph type="body" idx="1"/>
          </p:nvPr>
        </p:nvSpPr>
        <p:spPr>
          <a:xfrm>
            <a:off x="762000" y="838200"/>
            <a:ext cx="9982200" cy="568644"/>
          </a:xfrm>
        </p:spPr>
        <p:txBody>
          <a:bodyPr/>
          <a:lstStyle/>
          <a:p>
            <a:pPr algn="l"/>
            <a:r>
              <a:rPr lang="en-IN" sz="3200" b="1" dirty="0">
                <a:latin typeface="Times New Roman" panose="02020603050405020304" pitchFamily="18" charset="0"/>
                <a:cs typeface="Times New Roman" panose="02020603050405020304" pitchFamily="18" charset="0"/>
              </a:rPr>
              <a:t> CLASS DIAGRAM</a:t>
            </a:r>
          </a:p>
        </p:txBody>
      </p:sp>
      <p:pic>
        <p:nvPicPr>
          <p:cNvPr id="2" name="Picture 1">
            <a:extLst>
              <a:ext uri="{FF2B5EF4-FFF2-40B4-BE49-F238E27FC236}">
                <a16:creationId xmlns:a16="http://schemas.microsoft.com/office/drawing/2014/main" id="{466D81F5-EDA6-F412-D48C-673D8B7FC23C}"/>
              </a:ext>
            </a:extLst>
          </p:cNvPr>
          <p:cNvPicPr/>
          <p:nvPr/>
        </p:nvPicPr>
        <p:blipFill>
          <a:blip r:embed="rId2">
            <a:extLst>
              <a:ext uri="{BEBA8EAE-BF5A-486C-A8C5-ECC9F3942E4B}">
                <a14:imgProps xmlns:a14="http://schemas.microsoft.com/office/drawing/2010/main">
                  <a14:imgLayer r:embed="rId3">
                    <a14:imgEffect>
                      <a14:sharpenSoften amount="25000"/>
                    </a14:imgEffect>
                    <a14:imgEffect>
                      <a14:brightnessContrast bright="20000" contrast="-40000"/>
                    </a14:imgEffect>
                  </a14:imgLayer>
                </a14:imgProps>
              </a:ext>
            </a:extLst>
          </a:blip>
          <a:stretch>
            <a:fillRect/>
          </a:stretch>
        </p:blipFill>
        <p:spPr>
          <a:xfrm>
            <a:off x="1371600" y="1519554"/>
            <a:ext cx="8686800" cy="4728845"/>
          </a:xfrm>
          <a:prstGeom prst="rect">
            <a:avLst/>
          </a:prstGeom>
        </p:spPr>
      </p:pic>
    </p:spTree>
    <p:extLst>
      <p:ext uri="{BB962C8B-B14F-4D97-AF65-F5344CB8AC3E}">
        <p14:creationId xmlns:p14="http://schemas.microsoft.com/office/powerpoint/2010/main" val="17161776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B448C-276A-5B58-643C-13E2F4407960}"/>
              </a:ext>
            </a:extLst>
          </p:cNvPr>
          <p:cNvSpPr>
            <a:spLocks noGrp="1"/>
          </p:cNvSpPr>
          <p:nvPr>
            <p:ph type="title"/>
          </p:nvPr>
        </p:nvSpPr>
        <p:spPr>
          <a:xfrm>
            <a:off x="1195070" y="990600"/>
            <a:ext cx="10996930" cy="492443"/>
          </a:xfrm>
        </p:spPr>
        <p:txBody>
          <a:bodyPr/>
          <a:lstStyle/>
          <a:p>
            <a:r>
              <a:rPr lang="en-IN" sz="3200" b="1" dirty="0">
                <a:latin typeface="Times New Roman" panose="02020603050405020304" pitchFamily="18" charset="0"/>
                <a:cs typeface="Times New Roman" panose="02020603050405020304" pitchFamily="18" charset="0"/>
              </a:rPr>
              <a:t>             Hardware</a:t>
            </a:r>
            <a:r>
              <a:rPr lang="en-IN" sz="3200" b="1" spc="-50" dirty="0">
                <a:latin typeface="Times New Roman" panose="02020603050405020304" pitchFamily="18" charset="0"/>
                <a:cs typeface="Times New Roman" panose="02020603050405020304" pitchFamily="18" charset="0"/>
              </a:rPr>
              <a:t> </a:t>
            </a:r>
            <a:r>
              <a:rPr lang="en-IN" sz="3200" b="1" dirty="0">
                <a:latin typeface="Times New Roman" panose="02020603050405020304" pitchFamily="18" charset="0"/>
                <a:cs typeface="Times New Roman" panose="02020603050405020304" pitchFamily="18" charset="0"/>
              </a:rPr>
              <a:t>and</a:t>
            </a:r>
            <a:r>
              <a:rPr lang="en-IN" sz="3200" b="1" spc="-25" dirty="0">
                <a:latin typeface="Times New Roman" panose="02020603050405020304" pitchFamily="18" charset="0"/>
                <a:cs typeface="Times New Roman" panose="02020603050405020304" pitchFamily="18" charset="0"/>
              </a:rPr>
              <a:t> </a:t>
            </a:r>
            <a:r>
              <a:rPr lang="en-IN" sz="3200" b="1" dirty="0">
                <a:latin typeface="Times New Roman" panose="02020603050405020304" pitchFamily="18" charset="0"/>
                <a:cs typeface="Times New Roman" panose="02020603050405020304" pitchFamily="18" charset="0"/>
              </a:rPr>
              <a:t>software</a:t>
            </a:r>
            <a:r>
              <a:rPr lang="en-IN" sz="3200" b="1" spc="-20" dirty="0">
                <a:latin typeface="Times New Roman" panose="02020603050405020304" pitchFamily="18" charset="0"/>
                <a:cs typeface="Times New Roman" panose="02020603050405020304" pitchFamily="18" charset="0"/>
              </a:rPr>
              <a:t> </a:t>
            </a:r>
            <a:r>
              <a:rPr lang="en-IN" sz="3200" b="1" spc="-10" dirty="0">
                <a:latin typeface="Times New Roman" panose="02020603050405020304" pitchFamily="18" charset="0"/>
                <a:cs typeface="Times New Roman" panose="02020603050405020304" pitchFamily="18" charset="0"/>
              </a:rPr>
              <a:t>requirements </a:t>
            </a:r>
            <a:endParaRPr lang="en-IN" sz="32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7054F0F6-E528-592F-F44A-081F7ACF4ADB}"/>
              </a:ext>
            </a:extLst>
          </p:cNvPr>
          <p:cNvSpPr>
            <a:spLocks noGrp="1"/>
          </p:cNvSpPr>
          <p:nvPr>
            <p:ph type="body" idx="1"/>
          </p:nvPr>
        </p:nvSpPr>
        <p:spPr>
          <a:xfrm>
            <a:off x="990600" y="2094997"/>
            <a:ext cx="7622540" cy="2985433"/>
          </a:xfrm>
        </p:spPr>
        <p:txBody>
          <a:bodyPr/>
          <a:lstStyle/>
          <a:p>
            <a:r>
              <a:rPr lang="en-IN" sz="2800" b="1" dirty="0">
                <a:latin typeface="Times New Roman" panose="02020603050405020304" pitchFamily="18" charset="0"/>
                <a:cs typeface="Times New Roman" panose="02020603050405020304" pitchFamily="18" charset="0"/>
              </a:rPr>
              <a:t>Hardware:</a:t>
            </a:r>
          </a:p>
          <a:p>
            <a:r>
              <a:rPr lang="en-IN" sz="2800" dirty="0">
                <a:latin typeface="Times New Roman" panose="02020603050405020304" pitchFamily="18" charset="0"/>
                <a:cs typeface="Times New Roman" panose="02020603050405020304" pitchFamily="18" charset="0"/>
              </a:rPr>
              <a:t>    High-performance GPU, minimum 16GB RAM </a:t>
            </a:r>
          </a:p>
          <a:p>
            <a:r>
              <a:rPr lang="en-IN" sz="2800" b="1" dirty="0">
                <a:latin typeface="Times New Roman" panose="02020603050405020304" pitchFamily="18" charset="0"/>
                <a:cs typeface="Times New Roman" panose="02020603050405020304" pitchFamily="18" charset="0"/>
              </a:rPr>
              <a:t>Software:</a:t>
            </a:r>
          </a:p>
          <a:p>
            <a:r>
              <a:rPr lang="en-IN" sz="2800" dirty="0">
                <a:latin typeface="Times New Roman" panose="02020603050405020304" pitchFamily="18" charset="0"/>
                <a:cs typeface="Times New Roman" panose="02020603050405020304" pitchFamily="18" charset="0"/>
              </a:rPr>
              <a:t>    Python, Scikit-learn, TensorFlow/</a:t>
            </a:r>
            <a:r>
              <a:rPr lang="en-IN" sz="2800" dirty="0" err="1">
                <a:latin typeface="Times New Roman" panose="02020603050405020304" pitchFamily="18" charset="0"/>
                <a:cs typeface="Times New Roman" panose="02020603050405020304" pitchFamily="18" charset="0"/>
              </a:rPr>
              <a:t>Keras</a:t>
            </a:r>
            <a:endParaRPr lang="en-IN" sz="2800" dirty="0">
              <a:latin typeface="Times New Roman" panose="02020603050405020304" pitchFamily="18" charset="0"/>
              <a:cs typeface="Times New Roman" panose="02020603050405020304" pitchFamily="18" charset="0"/>
            </a:endParaRPr>
          </a:p>
          <a:p>
            <a:r>
              <a:rPr lang="en-IN" sz="2800" dirty="0">
                <a:latin typeface="Times New Roman" panose="02020603050405020304" pitchFamily="18" charset="0"/>
                <a:cs typeface="Times New Roman" panose="02020603050405020304" pitchFamily="18" charset="0"/>
              </a:rPr>
              <a:t> </a:t>
            </a:r>
            <a:r>
              <a:rPr lang="en-IN" sz="2800" b="1" dirty="0">
                <a:latin typeface="Times New Roman" panose="02020603050405020304" pitchFamily="18" charset="0"/>
                <a:cs typeface="Times New Roman" panose="02020603050405020304" pitchFamily="18" charset="0"/>
              </a:rPr>
              <a:t>Dataset:</a:t>
            </a:r>
          </a:p>
          <a:p>
            <a:r>
              <a:rPr lang="en-IN" sz="2800" b="1" dirty="0">
                <a:latin typeface="Times New Roman" panose="02020603050405020304" pitchFamily="18" charset="0"/>
                <a:cs typeface="Times New Roman" panose="02020603050405020304" pitchFamily="18" charset="0"/>
              </a:rPr>
              <a:t>    </a:t>
            </a:r>
            <a:r>
              <a:rPr lang="en-IN" sz="2800" dirty="0">
                <a:latin typeface="Times New Roman" panose="02020603050405020304" pitchFamily="18" charset="0"/>
                <a:cs typeface="Times New Roman" panose="02020603050405020304" pitchFamily="18" charset="0"/>
              </a:rPr>
              <a:t>Sleep Health and Lifestyle Dataset</a:t>
            </a:r>
          </a:p>
          <a:p>
            <a:endParaRPr lang="en-IN" dirty="0"/>
          </a:p>
        </p:txBody>
      </p:sp>
      <p:sp>
        <p:nvSpPr>
          <p:cNvPr id="4" name="Quad Arrow Callout 3">
            <a:extLst>
              <a:ext uri="{FF2B5EF4-FFF2-40B4-BE49-F238E27FC236}">
                <a16:creationId xmlns:a16="http://schemas.microsoft.com/office/drawing/2014/main" id="{360733DA-3F28-B7E0-6E03-D96CE90258C4}"/>
              </a:ext>
            </a:extLst>
          </p:cNvPr>
          <p:cNvSpPr/>
          <p:nvPr/>
        </p:nvSpPr>
        <p:spPr>
          <a:xfrm>
            <a:off x="455598" y="2209800"/>
            <a:ext cx="152400" cy="152400"/>
          </a:xfrm>
          <a:prstGeom prst="quadArrowCallout">
            <a:avLst>
              <a:gd name="adj1" fmla="val 18515"/>
              <a:gd name="adj2" fmla="val 18515"/>
              <a:gd name="adj3" fmla="val 18515"/>
              <a:gd name="adj4" fmla="val 1851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0"/>
            </a:defPPr>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endParaRPr lang="en-IN"/>
          </a:p>
        </p:txBody>
      </p:sp>
      <p:sp>
        <p:nvSpPr>
          <p:cNvPr id="5" name="Quad Arrow Callout 4">
            <a:extLst>
              <a:ext uri="{FF2B5EF4-FFF2-40B4-BE49-F238E27FC236}">
                <a16:creationId xmlns:a16="http://schemas.microsoft.com/office/drawing/2014/main" id="{CFF7A279-8F23-C3F7-EE9C-02A29B3820DB}"/>
              </a:ext>
            </a:extLst>
          </p:cNvPr>
          <p:cNvSpPr/>
          <p:nvPr/>
        </p:nvSpPr>
        <p:spPr>
          <a:xfrm>
            <a:off x="470036" y="3962400"/>
            <a:ext cx="152400" cy="152400"/>
          </a:xfrm>
          <a:prstGeom prst="quadArrowCallout">
            <a:avLst>
              <a:gd name="adj1" fmla="val 18515"/>
              <a:gd name="adj2" fmla="val 18515"/>
              <a:gd name="adj3" fmla="val 18515"/>
              <a:gd name="adj4" fmla="val 6297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0"/>
            </a:defPPr>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endParaRPr lang="en-IN"/>
          </a:p>
        </p:txBody>
      </p:sp>
      <p:sp>
        <p:nvSpPr>
          <p:cNvPr id="6" name="Quad Arrow Callout 4">
            <a:extLst>
              <a:ext uri="{FF2B5EF4-FFF2-40B4-BE49-F238E27FC236}">
                <a16:creationId xmlns:a16="http://schemas.microsoft.com/office/drawing/2014/main" id="{FC1F7955-71BD-043C-C627-D51A336AE392}"/>
              </a:ext>
            </a:extLst>
          </p:cNvPr>
          <p:cNvSpPr/>
          <p:nvPr/>
        </p:nvSpPr>
        <p:spPr>
          <a:xfrm>
            <a:off x="470036" y="3124200"/>
            <a:ext cx="152400" cy="152400"/>
          </a:xfrm>
          <a:prstGeom prst="quadArrow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0"/>
            </a:defPPr>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endParaRPr lang="en-IN"/>
          </a:p>
        </p:txBody>
      </p:sp>
    </p:spTree>
    <p:extLst>
      <p:ext uri="{BB962C8B-B14F-4D97-AF65-F5344CB8AC3E}">
        <p14:creationId xmlns:p14="http://schemas.microsoft.com/office/powerpoint/2010/main" val="29864572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99E82-3140-866A-CB36-0B62386C52BB}"/>
              </a:ext>
            </a:extLst>
          </p:cNvPr>
          <p:cNvSpPr>
            <a:spLocks noGrp="1"/>
          </p:cNvSpPr>
          <p:nvPr>
            <p:ph type="title"/>
          </p:nvPr>
        </p:nvSpPr>
        <p:spPr>
          <a:xfrm>
            <a:off x="597535" y="990599"/>
            <a:ext cx="10996930" cy="492443"/>
          </a:xfrm>
        </p:spPr>
        <p:txBody>
          <a:bodyPr/>
          <a:lstStyle/>
          <a:p>
            <a:r>
              <a:rPr lang="en-US" sz="3200" b="1" dirty="0">
                <a:latin typeface="Times New Roman" panose="02020603050405020304" pitchFamily="18" charset="0"/>
                <a:cs typeface="Times New Roman" panose="02020603050405020304" pitchFamily="18" charset="0"/>
              </a:rPr>
              <a:t>                          RESULTS/OUTCOMES</a:t>
            </a:r>
          </a:p>
        </p:txBody>
      </p:sp>
      <p:sp>
        <p:nvSpPr>
          <p:cNvPr id="3" name="Text Placeholder 2">
            <a:extLst>
              <a:ext uri="{FF2B5EF4-FFF2-40B4-BE49-F238E27FC236}">
                <a16:creationId xmlns:a16="http://schemas.microsoft.com/office/drawing/2014/main" id="{B05422DB-F3E7-8235-308A-D6393F28C1AA}"/>
              </a:ext>
            </a:extLst>
          </p:cNvPr>
          <p:cNvSpPr>
            <a:spLocks noGrp="1"/>
          </p:cNvSpPr>
          <p:nvPr>
            <p:ph type="body" idx="1"/>
          </p:nvPr>
        </p:nvSpPr>
        <p:spPr>
          <a:xfrm>
            <a:off x="688975" y="5517514"/>
            <a:ext cx="10905490" cy="738664"/>
          </a:xfrm>
        </p:spPr>
        <p:txBody>
          <a:bodyPr/>
          <a:lstStyle/>
          <a:p>
            <a:pPr algn="just"/>
            <a:r>
              <a:rPr lang="en-US" sz="2400" dirty="0">
                <a:latin typeface="Times New Roman" panose="02020603050405020304" pitchFamily="18" charset="0"/>
                <a:cs typeface="Times New Roman" panose="02020603050405020304" pitchFamily="18" charset="0"/>
              </a:rPr>
              <a:t>The bar chart shows that the dataset has a nearly equal distribution of sleep disorder classes (0 and 1).</a:t>
            </a:r>
          </a:p>
        </p:txBody>
      </p:sp>
      <p:pic>
        <p:nvPicPr>
          <p:cNvPr id="4" name="Picture 3">
            <a:extLst>
              <a:ext uri="{FF2B5EF4-FFF2-40B4-BE49-F238E27FC236}">
                <a16:creationId xmlns:a16="http://schemas.microsoft.com/office/drawing/2014/main" id="{072F2E57-F238-D248-1A3C-9F2EAE925A73}"/>
              </a:ext>
            </a:extLst>
          </p:cNvPr>
          <p:cNvPicPr/>
          <p:nvPr/>
        </p:nvPicPr>
        <p:blipFill>
          <a:blip r:embed="rId2"/>
          <a:srcRect l="15644" t="24659" r="26011" b="7174"/>
          <a:stretch>
            <a:fillRect/>
          </a:stretch>
        </p:blipFill>
        <p:spPr>
          <a:xfrm>
            <a:off x="990600" y="1524000"/>
            <a:ext cx="8458200" cy="3733800"/>
          </a:xfrm>
          <a:prstGeom prst="rect">
            <a:avLst/>
          </a:prstGeom>
        </p:spPr>
      </p:pic>
    </p:spTree>
    <p:extLst>
      <p:ext uri="{BB962C8B-B14F-4D97-AF65-F5344CB8AC3E}">
        <p14:creationId xmlns:p14="http://schemas.microsoft.com/office/powerpoint/2010/main" val="18136303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93B746E-EF9E-DAB9-822A-7F7DFBC8D742}"/>
              </a:ext>
            </a:extLst>
          </p:cNvPr>
          <p:cNvSpPr>
            <a:spLocks noGrp="1"/>
          </p:cNvSpPr>
          <p:nvPr>
            <p:ph type="body" idx="1"/>
          </p:nvPr>
        </p:nvSpPr>
        <p:spPr>
          <a:xfrm>
            <a:off x="688974" y="5334000"/>
            <a:ext cx="11274426" cy="1107996"/>
          </a:xfrm>
        </p:spPr>
        <p:txBody>
          <a:bodyPr/>
          <a:lstStyle/>
          <a:p>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The boxplot shows that individuals with sleep disorders (label 1) generally have a wider and more varied range of sleep durations compared to those without sleep disorders (label 0).</a:t>
            </a:r>
          </a:p>
        </p:txBody>
      </p:sp>
      <p:pic>
        <p:nvPicPr>
          <p:cNvPr id="4" name="Picture 3">
            <a:extLst>
              <a:ext uri="{FF2B5EF4-FFF2-40B4-BE49-F238E27FC236}">
                <a16:creationId xmlns:a16="http://schemas.microsoft.com/office/drawing/2014/main" id="{54989CFF-CFCC-22B4-FE35-482F8484D677}"/>
              </a:ext>
            </a:extLst>
          </p:cNvPr>
          <p:cNvPicPr/>
          <p:nvPr/>
        </p:nvPicPr>
        <p:blipFill>
          <a:blip r:embed="rId2"/>
          <a:srcRect l="18046" t="30132" r="23372" b="11037"/>
          <a:stretch>
            <a:fillRect/>
          </a:stretch>
        </p:blipFill>
        <p:spPr>
          <a:xfrm>
            <a:off x="1219200" y="914400"/>
            <a:ext cx="8763000" cy="4572000"/>
          </a:xfrm>
          <a:prstGeom prst="rect">
            <a:avLst/>
          </a:prstGeom>
        </p:spPr>
      </p:pic>
    </p:spTree>
    <p:extLst>
      <p:ext uri="{BB962C8B-B14F-4D97-AF65-F5344CB8AC3E}">
        <p14:creationId xmlns:p14="http://schemas.microsoft.com/office/powerpoint/2010/main" val="23150522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1EA6C9A-0EEB-852C-3D36-B61BA9D0E869}"/>
              </a:ext>
            </a:extLst>
          </p:cNvPr>
          <p:cNvSpPr>
            <a:spLocks noGrp="1"/>
          </p:cNvSpPr>
          <p:nvPr>
            <p:ph type="body" idx="1"/>
          </p:nvPr>
        </p:nvSpPr>
        <p:spPr>
          <a:xfrm>
            <a:off x="688975" y="914400"/>
            <a:ext cx="7622540" cy="400110"/>
          </a:xfrm>
        </p:spPr>
        <p:txBody>
          <a:bodyPr/>
          <a:lstStyle/>
          <a:p>
            <a:r>
              <a:rPr lang="en-US" dirty="0"/>
              <a:t>The Decision Tree Achieved height accuracy 91.49%</a:t>
            </a:r>
          </a:p>
        </p:txBody>
      </p:sp>
      <p:pic>
        <p:nvPicPr>
          <p:cNvPr id="4" name="Picture 3">
            <a:extLst>
              <a:ext uri="{FF2B5EF4-FFF2-40B4-BE49-F238E27FC236}">
                <a16:creationId xmlns:a16="http://schemas.microsoft.com/office/drawing/2014/main" id="{D686D929-9DAB-3F29-D40D-142CFE76F452}"/>
              </a:ext>
            </a:extLst>
          </p:cNvPr>
          <p:cNvPicPr/>
          <p:nvPr/>
        </p:nvPicPr>
        <p:blipFill>
          <a:blip r:embed="rId2"/>
          <a:srcRect l="6068" t="23343" r="28700" b="5572"/>
          <a:stretch>
            <a:fillRect/>
          </a:stretch>
        </p:blipFill>
        <p:spPr>
          <a:xfrm>
            <a:off x="38100" y="1447800"/>
            <a:ext cx="12115800" cy="5029200"/>
          </a:xfrm>
          <a:prstGeom prst="rect">
            <a:avLst/>
          </a:prstGeom>
        </p:spPr>
      </p:pic>
    </p:spTree>
    <p:extLst>
      <p:ext uri="{BB962C8B-B14F-4D97-AF65-F5344CB8AC3E}">
        <p14:creationId xmlns:p14="http://schemas.microsoft.com/office/powerpoint/2010/main" val="26740924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7072934-243A-FF92-1D60-10EE1835B83A}"/>
              </a:ext>
            </a:extLst>
          </p:cNvPr>
          <p:cNvPicPr/>
          <p:nvPr/>
        </p:nvPicPr>
        <p:blipFill>
          <a:blip r:embed="rId2"/>
          <a:srcRect l="10062" t="23959" r="50000" b="5021"/>
          <a:stretch>
            <a:fillRect/>
          </a:stretch>
        </p:blipFill>
        <p:spPr>
          <a:xfrm>
            <a:off x="838200" y="990600"/>
            <a:ext cx="10363200" cy="5410200"/>
          </a:xfrm>
          <a:prstGeom prst="rect">
            <a:avLst/>
          </a:prstGeom>
        </p:spPr>
      </p:pic>
    </p:spTree>
    <p:extLst>
      <p:ext uri="{BB962C8B-B14F-4D97-AF65-F5344CB8AC3E}">
        <p14:creationId xmlns:p14="http://schemas.microsoft.com/office/powerpoint/2010/main" val="27184859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671A514-AAE2-B54C-0EDC-CA4195CAE9A5}"/>
              </a:ext>
            </a:extLst>
          </p:cNvPr>
          <p:cNvPicPr/>
          <p:nvPr/>
        </p:nvPicPr>
        <p:blipFill>
          <a:blip r:embed="rId2"/>
          <a:srcRect l="11195" t="11476" r="14179" b="16392"/>
          <a:stretch>
            <a:fillRect/>
          </a:stretch>
        </p:blipFill>
        <p:spPr>
          <a:xfrm>
            <a:off x="1219200" y="838200"/>
            <a:ext cx="9601200" cy="5791200"/>
          </a:xfrm>
          <a:prstGeom prst="rect">
            <a:avLst/>
          </a:prstGeom>
        </p:spPr>
      </p:pic>
    </p:spTree>
    <p:extLst>
      <p:ext uri="{BB962C8B-B14F-4D97-AF65-F5344CB8AC3E}">
        <p14:creationId xmlns:p14="http://schemas.microsoft.com/office/powerpoint/2010/main" val="23587071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86242C9-64F0-96A3-AE98-3870BB40595B}"/>
              </a:ext>
            </a:extLst>
          </p:cNvPr>
          <p:cNvPicPr/>
          <p:nvPr/>
        </p:nvPicPr>
        <p:blipFill>
          <a:blip r:embed="rId2">
            <a:extLst>
              <a:ext uri="{BEBA8EAE-BF5A-486C-A8C5-ECC9F3942E4B}">
                <a14:imgProps xmlns:a14="http://schemas.microsoft.com/office/drawing/2010/main">
                  <a14:imgLayer r:embed="rId3">
                    <a14:imgEffect>
                      <a14:brightnessContrast contrast="-20000"/>
                    </a14:imgEffect>
                  </a14:imgLayer>
                </a14:imgProps>
              </a:ext>
            </a:extLst>
          </a:blip>
          <a:srcRect l="13740" t="13637" r="14504" b="16666"/>
          <a:stretch>
            <a:fillRect/>
          </a:stretch>
        </p:blipFill>
        <p:spPr>
          <a:xfrm>
            <a:off x="533400" y="1143000"/>
            <a:ext cx="10287000" cy="5181600"/>
          </a:xfrm>
          <a:prstGeom prst="rect">
            <a:avLst/>
          </a:prstGeom>
        </p:spPr>
      </p:pic>
    </p:spTree>
    <p:extLst>
      <p:ext uri="{BB962C8B-B14F-4D97-AF65-F5344CB8AC3E}">
        <p14:creationId xmlns:p14="http://schemas.microsoft.com/office/powerpoint/2010/main" val="31959854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621AC05-A15D-038F-864D-8E14E62B97B0}"/>
              </a:ext>
            </a:extLst>
          </p:cNvPr>
          <p:cNvPicPr/>
          <p:nvPr/>
        </p:nvPicPr>
        <p:blipFill>
          <a:blip r:embed="rId2"/>
          <a:srcRect l="21481" t="20000" r="21481" b="11667"/>
          <a:stretch>
            <a:fillRect/>
          </a:stretch>
        </p:blipFill>
        <p:spPr>
          <a:xfrm>
            <a:off x="762000" y="1066800"/>
            <a:ext cx="11049000" cy="5029200"/>
          </a:xfrm>
          <a:prstGeom prst="rect">
            <a:avLst/>
          </a:prstGeom>
        </p:spPr>
      </p:pic>
    </p:spTree>
    <p:extLst>
      <p:ext uri="{BB962C8B-B14F-4D97-AF65-F5344CB8AC3E}">
        <p14:creationId xmlns:p14="http://schemas.microsoft.com/office/powerpoint/2010/main" val="40737670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84A0BAB-F121-72D9-F7E8-67B536AF2ECD}"/>
              </a:ext>
            </a:extLst>
          </p:cNvPr>
          <p:cNvSpPr>
            <a:spLocks noGrp="1"/>
          </p:cNvSpPr>
          <p:nvPr>
            <p:ph type="body" idx="1"/>
          </p:nvPr>
        </p:nvSpPr>
        <p:spPr>
          <a:xfrm>
            <a:off x="304800" y="5638800"/>
            <a:ext cx="11734800" cy="1107996"/>
          </a:xfrm>
        </p:spPr>
        <p:txBody>
          <a:bodyPr/>
          <a:lstStyle/>
          <a:p>
            <a:pPr algn="just"/>
            <a:r>
              <a:rPr lang="en-US" sz="2400" dirty="0">
                <a:latin typeface="Times New Roman" panose="02020603050405020304" pitchFamily="18" charset="0"/>
                <a:cs typeface="Times New Roman" panose="02020603050405020304" pitchFamily="18" charset="0"/>
              </a:rPr>
              <a:t>The bar chart shows that the model predicted more cases of Insomnia compared to Sleep Apnea. This indicates Insomnia is the more frequently occurring sleep disorder in the dataset used.</a:t>
            </a:r>
          </a:p>
        </p:txBody>
      </p:sp>
      <p:pic>
        <p:nvPicPr>
          <p:cNvPr id="4" name="Picture 3">
            <a:extLst>
              <a:ext uri="{FF2B5EF4-FFF2-40B4-BE49-F238E27FC236}">
                <a16:creationId xmlns:a16="http://schemas.microsoft.com/office/drawing/2014/main" id="{0C5A6257-03AA-141D-73EA-FAF35F2ED225}"/>
              </a:ext>
            </a:extLst>
          </p:cNvPr>
          <p:cNvPicPr/>
          <p:nvPr/>
        </p:nvPicPr>
        <p:blipFill>
          <a:blip r:embed="rId2"/>
          <a:srcRect l="18050" t="34191" r="23375" b="7388"/>
          <a:stretch>
            <a:fillRect/>
          </a:stretch>
        </p:blipFill>
        <p:spPr>
          <a:xfrm>
            <a:off x="1447800" y="838200"/>
            <a:ext cx="8305800" cy="4572000"/>
          </a:xfrm>
          <a:prstGeom prst="rect">
            <a:avLst/>
          </a:prstGeom>
        </p:spPr>
      </p:pic>
    </p:spTree>
    <p:extLst>
      <p:ext uri="{BB962C8B-B14F-4D97-AF65-F5344CB8AC3E}">
        <p14:creationId xmlns:p14="http://schemas.microsoft.com/office/powerpoint/2010/main" val="6769039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A16A5-21D1-21A8-EE3E-0C5A8EE17EE6}"/>
              </a:ext>
            </a:extLst>
          </p:cNvPr>
          <p:cNvSpPr>
            <a:spLocks noGrp="1"/>
          </p:cNvSpPr>
          <p:nvPr>
            <p:ph type="title"/>
          </p:nvPr>
        </p:nvSpPr>
        <p:spPr>
          <a:xfrm>
            <a:off x="597534" y="1026096"/>
            <a:ext cx="10996930" cy="492443"/>
          </a:xfrm>
        </p:spPr>
        <p:txBody>
          <a:bodyPr/>
          <a:lstStyle/>
          <a:p>
            <a:r>
              <a:rPr lang="en-US" sz="3200" b="1" dirty="0">
                <a:latin typeface="Times New Roman" panose="02020603050405020304" pitchFamily="18" charset="0"/>
                <a:cs typeface="Times New Roman" panose="02020603050405020304" pitchFamily="18" charset="0"/>
              </a:rPr>
              <a:t>                                   CONCLUSION</a:t>
            </a:r>
            <a:endParaRPr lang="en-IN" sz="3200"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F5E17D37-0210-477A-A71A-54E81C30808E}"/>
              </a:ext>
            </a:extLst>
          </p:cNvPr>
          <p:cNvSpPr>
            <a:spLocks noGrp="1"/>
          </p:cNvSpPr>
          <p:nvPr>
            <p:ph type="body" idx="1"/>
          </p:nvPr>
        </p:nvSpPr>
        <p:spPr>
          <a:xfrm>
            <a:off x="617387" y="1705450"/>
            <a:ext cx="11390313" cy="4126453"/>
          </a:xfrm>
        </p:spPr>
        <p:txBody>
          <a:bodyPr/>
          <a:lstStyle/>
          <a:p>
            <a:pPr algn="just"/>
            <a:r>
              <a:rPr lang="en-US" sz="2800" dirty="0">
                <a:latin typeface="Times New Roman" panose="02020603050405020304" pitchFamily="18" charset="0"/>
                <a:cs typeface="Times New Roman" panose="02020603050405020304" pitchFamily="18" charset="0"/>
              </a:rPr>
              <a:t>This project effectively demonstrates the use of machine learning algorithms to classify sleep disorders such as insomnia and sleep </a:t>
            </a:r>
            <a:r>
              <a:rPr lang="en-US" sz="2800" dirty="0" err="1">
                <a:latin typeface="Times New Roman" panose="02020603050405020304" pitchFamily="18" charset="0"/>
                <a:cs typeface="Times New Roman" panose="02020603050405020304" pitchFamily="18" charset="0"/>
              </a:rPr>
              <a:t>apnoea</a:t>
            </a:r>
            <a:r>
              <a:rPr lang="en-US" sz="2800" dirty="0">
                <a:latin typeface="Times New Roman" panose="02020603050405020304" pitchFamily="18" charset="0"/>
                <a:cs typeface="Times New Roman" panose="02020603050405020304" pitchFamily="18" charset="0"/>
              </a:rPr>
              <a:t> based on health and lifestyle data. Multiple models were evaluated, and the Decision Tree achieved the highest accuracy of 91.49%, showing excellent performance in predicting sleep disorder types. The proposed system offers a reliable, faster, and low-cost alternative to traditional clinical methods like polysomnography. It can support early diagnosis, reduce medical workload, and improve accessibility to sleep health assessments.</a:t>
            </a:r>
            <a:endParaRPr lang="en-IN" dirty="0"/>
          </a:p>
        </p:txBody>
      </p:sp>
    </p:spTree>
    <p:extLst>
      <p:ext uri="{BB962C8B-B14F-4D97-AF65-F5344CB8AC3E}">
        <p14:creationId xmlns:p14="http://schemas.microsoft.com/office/powerpoint/2010/main" val="29536823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90600" y="2971800"/>
            <a:ext cx="11506200" cy="1124667"/>
          </a:xfrm>
          <a:prstGeom prst="rect">
            <a:avLst/>
          </a:prstGeom>
        </p:spPr>
        <p:txBody>
          <a:bodyPr vert="horz" wrap="square" lIns="0" tIns="16510" rIns="0" bIns="0" rtlCol="0">
            <a:spAutoFit/>
          </a:bodyPr>
          <a:lstStyle/>
          <a:p>
            <a:pPr marL="3587115" algn="ctr">
              <a:lnSpc>
                <a:spcPct val="100000"/>
              </a:lnSpc>
              <a:spcBef>
                <a:spcPts val="130"/>
              </a:spcBef>
            </a:pPr>
            <a:r>
              <a:rPr lang="en-US" sz="7200" u="sng" dirty="0">
                <a:latin typeface="Engravers MT" panose="02090707080505020304" pitchFamily="18" charset="0"/>
                <a:cs typeface="Times New Roman" panose="02020603050405020304" pitchFamily="18" charset="0"/>
              </a:rPr>
              <a:t>THANK  YOU</a:t>
            </a:r>
            <a:endParaRPr sz="7200" u="sng" spc="-25" dirty="0">
              <a:latin typeface="Engravers MT" panose="02090707080505020304" pitchFamily="18" charset="0"/>
              <a:cs typeface="Times New Roman" panose="02020603050405020304" pitchFamily="18" charset="0"/>
            </a:endParaRPr>
          </a:p>
        </p:txBody>
      </p:sp>
      <p:sp>
        <p:nvSpPr>
          <p:cNvPr id="3" name="Smiley Face 2">
            <a:extLst>
              <a:ext uri="{FF2B5EF4-FFF2-40B4-BE49-F238E27FC236}">
                <a16:creationId xmlns:a16="http://schemas.microsoft.com/office/drawing/2014/main" id="{199D6533-C500-4FEC-A8A8-F845DF5CCEFA}"/>
              </a:ext>
            </a:extLst>
          </p:cNvPr>
          <p:cNvSpPr/>
          <p:nvPr/>
        </p:nvSpPr>
        <p:spPr>
          <a:xfrm>
            <a:off x="533400" y="2438400"/>
            <a:ext cx="1600200" cy="1524000"/>
          </a:xfrm>
          <a:prstGeom prst="smileyFac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1269</TotalTime>
  <Words>1025</Words>
  <Application>Microsoft Office PowerPoint</Application>
  <PresentationFormat>Widescreen</PresentationFormat>
  <Paragraphs>140</Paragraphs>
  <Slides>31</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31</vt:i4>
      </vt:variant>
    </vt:vector>
  </HeadingPairs>
  <TitlesOfParts>
    <vt:vector size="38" baseType="lpstr">
      <vt:lpstr>Arial Black</vt:lpstr>
      <vt:lpstr>Calibri</vt:lpstr>
      <vt:lpstr>Constantia</vt:lpstr>
      <vt:lpstr>Engravers MT</vt:lpstr>
      <vt:lpstr>Times New Roman</vt:lpstr>
      <vt:lpstr>Wingdings</vt:lpstr>
      <vt:lpstr>Office Theme</vt:lpstr>
      <vt:lpstr>PowerPoint Presentation</vt:lpstr>
      <vt:lpstr>     contents</vt:lpstr>
      <vt:lpstr>                                        Abstract</vt:lpstr>
      <vt:lpstr>                                Introduction   </vt:lpstr>
      <vt:lpstr>                                   Existing system</vt:lpstr>
      <vt:lpstr>                            Disadvantages</vt:lpstr>
      <vt:lpstr>                               Proposed System</vt:lpstr>
      <vt:lpstr>                              ARCHITECTURE</vt:lpstr>
      <vt:lpstr>PowerPoint Presentation</vt:lpstr>
      <vt:lpstr>                                       MODULES</vt:lpstr>
      <vt:lpstr>                        DATA COLLECTION         </vt:lpstr>
      <vt:lpstr>               FEATURE SELECTION</vt:lpstr>
      <vt:lpstr>                MACHINE LEARNING MODEL</vt:lpstr>
      <vt:lpstr>                CLASSIFICATION</vt:lpstr>
      <vt:lpstr>                     DATA  PREPROCESSING</vt:lpstr>
      <vt:lpstr>                       ALGORITHMS </vt:lpstr>
      <vt:lpstr>PowerPoint Presentation</vt:lpstr>
      <vt:lpstr>                                  UML DIAGRAMS</vt:lpstr>
      <vt:lpstr>PowerPoint Presentation</vt:lpstr>
      <vt:lpstr>PowerPoint Presentation</vt:lpstr>
      <vt:lpstr>             Hardware and software requirements </vt:lpstr>
      <vt:lpstr>                          RESULTS/OUTCOMES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Sandeep Doddi</dc:creator>
  <cp:lastModifiedBy>Saikumar</cp:lastModifiedBy>
  <cp:revision>26</cp:revision>
  <dcterms:created xsi:type="dcterms:W3CDTF">2025-01-03T16:01:30Z</dcterms:created>
  <dcterms:modified xsi:type="dcterms:W3CDTF">2025-07-03T13:37:55Z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2025-01-02T00:00:00Z</vt:filetime>
  </property>
  <property fmtid="{D5CDD505-2E9C-101B-9397-08002B2CF9AE}" pid="3" name="LastSaved">
    <vt:filetime>2025-01-03T00:00:00Z</vt:filetime>
  </property>
</Properties>
</file>